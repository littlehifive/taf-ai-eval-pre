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2" Type="http://schemas.openxmlformats.org/officeDocument/2006/relationships/viewProps" Target="viewProps.xml" /><Relationship Id="rId71" Type="http://schemas.openxmlformats.org/officeDocument/2006/relationships/presProps" Target="presProps.xml" /><Relationship Id="rId1" Type="http://schemas.openxmlformats.org/officeDocument/2006/relationships/slideMaster" Target="slideMasters/slideMaster1.xml" /><Relationship Id="rId74" Type="http://schemas.openxmlformats.org/officeDocument/2006/relationships/tableStyles" Target="tableStyles.xml" /><Relationship Id="rId7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Generative AI Evaluation in the Development Sector</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Living Playbook</a:t>
            </a:r>
            <a:br/>
            <a:br/>
            <a:r>
              <a:rPr/>
              <a:t>The Agency Fund, IDInsight, Center for Global Development</a:t>
            </a:r>
          </a:p>
        </p:txBody>
      </p:sp>
      <p:sp>
        <p:nvSpPr>
          <p:cNvPr id="4" name="Date Placeholder 3"/>
          <p:cNvSpPr>
            <a:spLocks noGrp="1"/>
          </p:cNvSpPr>
          <p:nvPr>
            <p:ph idx="10" sz="half" type="dt"/>
          </p:nvPr>
        </p:nvSpPr>
        <p:spPr/>
        <p:txBody>
          <a:bodyPr/>
          <a:lstStyle/>
          <a:p>
            <a:pPr lvl="0" indent="0" marL="0">
              <a:buNone/>
            </a:pPr>
            <a:r>
              <a:rPr/>
              <a:t>November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Challenge</a:t>
            </a:r>
          </a:p>
        </p:txBody>
      </p:sp>
      <p:sp>
        <p:nvSpPr>
          <p:cNvPr id="3" name="Content Placeholder 2"/>
          <p:cNvSpPr>
            <a:spLocks noGrp="1"/>
          </p:cNvSpPr>
          <p:nvPr>
            <p:ph idx="1"/>
          </p:nvPr>
        </p:nvSpPr>
        <p:spPr/>
        <p:txBody>
          <a:bodyPr/>
          <a:lstStyle/>
          <a:p>
            <a:pPr lvl="0"/>
            <a:r>
              <a:rPr/>
              <a:t>Generative AI tools in low- and middle-income countries are multiplying</a:t>
            </a:r>
          </a:p>
          <a:p>
            <a:pPr lvl="1"/>
            <a:r>
              <a:rPr/>
              <a:t>AI-powered math tutors for children</a:t>
            </a:r>
          </a:p>
          <a:p>
            <a:pPr lvl="1"/>
            <a:r>
              <a:rPr/>
              <a:t>Digital advisory tools for farmers</a:t>
            </a:r>
          </a:p>
          <a:p>
            <a:pPr lvl="1"/>
            <a:r>
              <a:rPr/>
              <a:t>Health assistants</a:t>
            </a:r>
          </a:p>
          <a:p>
            <a:pPr lvl="0"/>
            <a:r>
              <a:rPr b="1"/>
              <a:t>Problem</a:t>
            </a:r>
            <a:r>
              <a:rPr/>
              <a:t>: While some studies show effectiveness (e.g., Henkel et al., 2024), others show AI applications exhibit unexpected and unwanted behavior that can be harmful to users (e.g., Bastani et al., 2024)</a:t>
            </a:r>
          </a:p>
          <a:p>
            <a:pPr lvl="0"/>
            <a:r>
              <a:rPr b="1"/>
              <a:t>Gap</a:t>
            </a:r>
            <a:r>
              <a:rPr/>
              <a:t>: While there is broad consensus on the importance of evaluating GenAI in the development sector, there has been little agreement on what this actually means</a:t>
            </a:r>
          </a:p>
          <a:p>
            <a:pPr lvl="0"/>
            <a:r>
              <a:rPr b="1"/>
              <a:t>Consequence</a:t>
            </a:r>
            <a:r>
              <a:rPr/>
              <a:t>: In the absence of clear standards, organizations have adopted very different evaluation approaches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Problem: Fragmented Approaches</a:t>
            </a:r>
          </a:p>
        </p:txBody>
      </p:sp>
      <p:sp>
        <p:nvSpPr>
          <p:cNvPr id="3" name="Content Placeholder 2"/>
          <p:cNvSpPr>
            <a:spLocks noGrp="1"/>
          </p:cNvSpPr>
          <p:nvPr>
            <p:ph idx="1"/>
          </p:nvPr>
        </p:nvSpPr>
        <p:spPr/>
        <p:txBody>
          <a:bodyPr/>
          <a:lstStyle/>
          <a:p>
            <a:pPr lvl="0"/>
            <a:r>
              <a:rPr b="1"/>
              <a:t>Tech-focused organizations</a:t>
            </a:r>
            <a:r>
              <a:rPr/>
              <a:t>: Emphasize model/product performance, neglect development outcomes</a:t>
            </a:r>
          </a:p>
          <a:p>
            <a:pPr lvl="0"/>
            <a:r>
              <a:rPr b="1"/>
              <a:t>Development-focused organizations</a:t>
            </a:r>
            <a:r>
              <a:rPr/>
              <a:t>: Default to RCTs, ignore model and product evaluations</a:t>
            </a:r>
          </a:p>
          <a:p>
            <a:pPr lvl="0"/>
            <a:r>
              <a:rPr b="1"/>
              <a:t>Funders</a:t>
            </a:r>
            <a:r>
              <a:rPr/>
              <a:t>: Lack clarity on what evaluations to expect or what “right-sized” evaluation entails</a:t>
            </a:r>
          </a:p>
          <a:p>
            <a:pPr lvl="0"/>
            <a:r>
              <a:rPr b="1"/>
              <a:t>Reality</a:t>
            </a:r>
            <a:r>
              <a:rPr/>
              <a:t>: All methods are complementary and should be used together at different stages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Solution: Four-Level Framework</a:t>
            </a:r>
          </a:p>
        </p:txBody>
      </p:sp>
      <p:sp>
        <p:nvSpPr>
          <p:cNvPr id="3" name="Content Placeholder 2"/>
          <p:cNvSpPr>
            <a:spLocks noGrp="1"/>
          </p:cNvSpPr>
          <p:nvPr>
            <p:ph idx="1"/>
          </p:nvPr>
        </p:nvSpPr>
        <p:spPr/>
        <p:txBody>
          <a:bodyPr/>
          <a:lstStyle/>
          <a:p>
            <a:pPr lvl="0" indent="0" marL="0">
              <a:buNone/>
            </a:pPr>
            <a:r>
              <a:rPr/>
              <a:t>This playbook organizes evaluation around four levels:</a:t>
            </a:r>
          </a:p>
          <a:p>
            <a:pPr lvl="0" indent="-342900" marL="342900">
              <a:buAutoNum type="arabicPeriod"/>
            </a:pPr>
            <a:r>
              <a:rPr b="1"/>
              <a:t>Level 1 – Model evaluation</a:t>
            </a:r>
            <a:r>
              <a:rPr/>
              <a:t>: Does the AI model produce the desired responses?</a:t>
            </a:r>
          </a:p>
          <a:p>
            <a:pPr lvl="0" indent="-342900" marL="342900">
              <a:buAutoNum type="arabicPeriod"/>
            </a:pPr>
            <a:r>
              <a:rPr b="1"/>
              <a:t>Level 2 – Product evaluation</a:t>
            </a:r>
            <a:r>
              <a:rPr/>
              <a:t>: Does the product facilitate meaningful interactions?</a:t>
            </a:r>
          </a:p>
          <a:p>
            <a:pPr lvl="0" indent="-342900" marL="342900">
              <a:buAutoNum type="arabicPeriod"/>
            </a:pPr>
            <a:r>
              <a:rPr b="1"/>
              <a:t>Level 3 – User evaluation</a:t>
            </a:r>
            <a:r>
              <a:rPr/>
              <a:t>: Does the product positively support users’ thoughts, feelings, knowledge, and behaviors?</a:t>
            </a:r>
          </a:p>
          <a:p>
            <a:pPr lvl="0" indent="-342900" marL="342900">
              <a:buAutoNum type="arabicPeriod"/>
            </a:pPr>
            <a:r>
              <a:rPr b="1"/>
              <a:t>Level 4 – Impact evaluation</a:t>
            </a:r>
            <a:r>
              <a:rPr/>
              <a:t>: Does access to the product improve development outcomes?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Continuous Evaluation: The Central Element</a:t>
            </a:r>
          </a:p>
        </p:txBody>
      </p:sp>
      <p:sp>
        <p:nvSpPr>
          <p:cNvPr id="3" name="Content Placeholder 2"/>
          <p:cNvSpPr>
            <a:spLocks noGrp="1"/>
          </p:cNvSpPr>
          <p:nvPr>
            <p:ph idx="1"/>
          </p:nvPr>
        </p:nvSpPr>
        <p:spPr/>
        <p:txBody>
          <a:bodyPr/>
          <a:lstStyle/>
          <a:p>
            <a:pPr lvl="0"/>
            <a:r>
              <a:rPr/>
              <a:t>Unlike earlier rule-based digital tools, GenAI’s unique sensitivity to the underlying model, architecture, data, and prompts demands new evaluation methods</a:t>
            </a:r>
          </a:p>
          <a:p>
            <a:pPr lvl="0"/>
            <a:r>
              <a:rPr/>
              <a:t>The underlying components can evolve far faster than in earlier digital technologies - with new AI models and technologies being released weekly</a:t>
            </a:r>
          </a:p>
          <a:p>
            <a:pPr lvl="0"/>
            <a:r>
              <a:rPr/>
              <a:t>Developers must ensure their applications perform as intended over time, even as updates are released</a:t>
            </a:r>
          </a:p>
          <a:p>
            <a:pPr lvl="0"/>
            <a:r>
              <a:rPr b="1"/>
              <a:t>Continuous evaluation</a:t>
            </a:r>
            <a:r>
              <a:rPr/>
              <a:t> thus becomes essential, enabling developers to:</a:t>
            </a:r>
          </a:p>
          <a:p>
            <a:pPr lvl="1"/>
            <a:r>
              <a:rPr/>
              <a:t>Iterate quickly</a:t>
            </a:r>
          </a:p>
          <a:p>
            <a:pPr lvl="1"/>
            <a:r>
              <a:rPr/>
              <a:t>Maintain expected behavior</a:t>
            </a:r>
          </a:p>
          <a:p>
            <a:pPr lvl="1"/>
            <a:r>
              <a:rPr/>
              <a:t>Steadily improve performance and impact</a:t>
            </a:r>
          </a:p>
          <a:p>
            <a:pPr lvl="0"/>
            <a:r>
              <a:rPr/>
              <a:t>This focus on continuous evaluation, while commonplace in software companies, might be less familiar in the development sector where programs are often judged by one-off experiments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Development Sector Challenge</a:t>
            </a:r>
          </a:p>
        </p:txBody>
      </p:sp>
      <p:sp>
        <p:nvSpPr>
          <p:cNvPr id="3" name="Content Placeholder 2"/>
          <p:cNvSpPr>
            <a:spLocks noGrp="1"/>
          </p:cNvSpPr>
          <p:nvPr>
            <p:ph idx="1"/>
          </p:nvPr>
        </p:nvSpPr>
        <p:spPr/>
        <p:txBody>
          <a:bodyPr/>
          <a:lstStyle/>
          <a:p>
            <a:pPr lvl="0"/>
            <a:r>
              <a:rPr/>
              <a:t>Development sector: Programs often judged by one-off experiments (evaluation as finish line)</a:t>
            </a:r>
          </a:p>
          <a:p>
            <a:pPr lvl="0"/>
            <a:r>
              <a:rPr b="1"/>
              <a:t>Our approach</a:t>
            </a:r>
            <a:r>
              <a:rPr/>
              <a:t>: Rapid, ongoing cycles where deployment, adaptation, evaluation, and improvement happen in tandem</a:t>
            </a:r>
          </a:p>
          <a:p>
            <a:pPr lvl="0"/>
            <a:r>
              <a:rPr/>
              <a:t>This is commonplace in software companies, but less familiar in development sector</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Framework Origins</a:t>
            </a:r>
          </a:p>
        </p:txBody>
      </p:sp>
      <p:sp>
        <p:nvSpPr>
          <p:cNvPr id="3" name="Content Placeholder 2"/>
          <p:cNvSpPr>
            <a:spLocks noGrp="1"/>
          </p:cNvSpPr>
          <p:nvPr>
            <p:ph idx="1"/>
          </p:nvPr>
        </p:nvSpPr>
        <p:spPr/>
        <p:txBody>
          <a:bodyPr/>
          <a:lstStyle/>
          <a:p>
            <a:pPr lvl="0"/>
            <a:r>
              <a:rPr/>
              <a:t>Lessons from </a:t>
            </a:r>
            <a:r>
              <a:rPr b="1"/>
              <a:t>AI for Global Development (AI4GD) accelerator</a:t>
            </a:r>
          </a:p>
          <a:p>
            <a:pPr lvl="1"/>
            <a:r>
              <a:rPr/>
              <a:t>Led by The Agency Fund (TAF)</a:t>
            </a:r>
          </a:p>
          <a:p>
            <a:pPr lvl="1"/>
            <a:r>
              <a:rPr/>
              <a:t>Collaboration with OpenAI and Center for Global Development (CGD)</a:t>
            </a:r>
          </a:p>
          <a:p>
            <a:pPr lvl="1"/>
            <a:r>
              <a:rPr/>
              <a:t>$5 million investment supporting 8 non-profit organizations</a:t>
            </a:r>
          </a:p>
          <a:p>
            <a:pPr lvl="1"/>
            <a:r>
              <a:rPr/>
              <a:t>Focus: Education, health, and agricultural livelihoods</a:t>
            </a:r>
          </a:p>
          <a:p>
            <a:pPr lvl="0"/>
            <a:r>
              <a:rPr/>
              <a:t>Incorporates lessons from accelerator participants and other leading organizations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Natural Progression of Evaluation Levels</a:t>
            </a:r>
          </a:p>
        </p:txBody>
      </p:sp>
      <p:sp>
        <p:nvSpPr>
          <p:cNvPr id="3" name="Content Placeholder 2"/>
          <p:cNvSpPr>
            <a:spLocks noGrp="1"/>
          </p:cNvSpPr>
          <p:nvPr>
            <p:ph idx="1"/>
          </p:nvPr>
        </p:nvSpPr>
        <p:spPr/>
        <p:txBody>
          <a:bodyPr/>
          <a:lstStyle/>
          <a:p>
            <a:pPr lvl="0" indent="-342900" marL="342900">
              <a:buAutoNum type="arabicPeriod"/>
            </a:pPr>
            <a:r>
              <a:rPr b="1"/>
              <a:t>Level 1</a:t>
            </a:r>
            <a:r>
              <a:rPr/>
              <a:t>: Build AI model pipeline, benchmark performance</a:t>
            </a:r>
          </a:p>
          <a:p>
            <a:pPr lvl="0" indent="-342900" marL="342900">
              <a:buAutoNum type="arabicPeriod"/>
            </a:pPr>
            <a:r>
              <a:rPr b="1"/>
              <a:t>Level 2</a:t>
            </a:r>
            <a:r>
              <a:rPr/>
              <a:t>: Test product for usability and user engagement</a:t>
            </a:r>
          </a:p>
          <a:p>
            <a:pPr lvl="0" indent="-342900" marL="342900">
              <a:buAutoNum type="arabicPeriod"/>
            </a:pPr>
            <a:r>
              <a:rPr b="1"/>
              <a:t>Level 3</a:t>
            </a:r>
            <a:r>
              <a:rPr/>
              <a:t>: Understand effects on thoughts, feelings, knowledge, behaviors</a:t>
            </a:r>
          </a:p>
          <a:p>
            <a:pPr lvl="0" indent="-342900" marL="342900">
              <a:buAutoNum type="arabicPeriod"/>
            </a:pPr>
            <a:r>
              <a:rPr b="1"/>
              <a:t>Level 4</a:t>
            </a:r>
            <a:r>
              <a:rPr/>
              <a:t>: Assess long-term improvements in development outcomes</a:t>
            </a:r>
          </a:p>
          <a:p>
            <a:pPr lvl="0" indent="0" marL="0">
              <a:buNone/>
            </a:pPr>
            <a:r>
              <a:rPr b="1"/>
              <a:t>Tech sector</a:t>
            </a:r>
            <a:r>
              <a:rPr/>
              <a:t>: Typically stops at Levels 1-2 (engagement predicts success)</a:t>
            </a:r>
          </a:p>
          <a:p>
            <a:pPr lvl="0" indent="0" marL="0">
              <a:buNone/>
            </a:pPr>
            <a:r>
              <a:rPr b="1"/>
              <a:t>Development sector</a:t>
            </a:r>
            <a:r>
              <a:rPr/>
              <a:t>: Higher bar - does it improve lives in meaningful, measurable, cost-effective ways?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Should Use This Guide?</a:t>
            </a:r>
          </a:p>
        </p:txBody>
      </p:sp>
      <p:sp>
        <p:nvSpPr>
          <p:cNvPr id="3" name="Content Placeholder 2"/>
          <p:cNvSpPr>
            <a:spLocks noGrp="1"/>
          </p:cNvSpPr>
          <p:nvPr>
            <p:ph idx="1"/>
          </p:nvPr>
        </p:nvSpPr>
        <p:spPr/>
        <p:txBody>
          <a:bodyPr/>
          <a:lstStyle/>
          <a:p>
            <a:pPr lvl="0"/>
            <a:r>
              <a:rPr b="1"/>
              <a:t>AI Engineers</a:t>
            </a:r>
            <a:r>
              <a:rPr/>
              <a:t> → Model behavior (Level 1)</a:t>
            </a:r>
          </a:p>
          <a:p>
            <a:pPr lvl="0"/>
            <a:r>
              <a:rPr b="1"/>
              <a:t>Product Managers &amp; Data Scientists</a:t>
            </a:r>
            <a:r>
              <a:rPr/>
              <a:t> → Product analytics (Level 2)</a:t>
            </a:r>
          </a:p>
          <a:p>
            <a:pPr lvl="0"/>
            <a:r>
              <a:rPr b="1"/>
              <a:t>Psychologists &amp; Behavioral Researchers</a:t>
            </a:r>
            <a:r>
              <a:rPr/>
              <a:t> → User thoughts, feelings, behaviors (Level 3)</a:t>
            </a:r>
          </a:p>
          <a:p>
            <a:pPr lvl="0"/>
            <a:r>
              <a:rPr b="1"/>
              <a:t>Impact Evaluators</a:t>
            </a:r>
            <a:r>
              <a:rPr/>
              <a:t> → Social impact (Level 4)</a:t>
            </a:r>
          </a:p>
          <a:p>
            <a:pPr lvl="0" indent="0" marL="0">
              <a:buNone/>
            </a:pPr>
            <a:r>
              <a:rPr b="1"/>
              <a:t>Key</a:t>
            </a:r>
            <a:r>
              <a:rPr/>
              <a:t>: All actors must see beyond their slice of the evaluation process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Blocks for GenAI Evaluation</a:t>
            </a:r>
          </a:p>
        </p:txBody>
      </p:sp>
      <p:sp>
        <p:nvSpPr>
          <p:cNvPr id="3" name="Content Placeholder 2"/>
          <p:cNvSpPr>
            <a:spLocks noGrp="1"/>
          </p:cNvSpPr>
          <p:nvPr>
            <p:ph idx="1"/>
          </p:nvPr>
        </p:nvSpPr>
        <p:spPr/>
        <p:txBody>
          <a:bodyPr/>
          <a:lstStyle/>
          <a:p>
            <a:pPr lvl="0" indent="0" marL="0">
              <a:buNone/>
            </a:pPr>
            <a:r>
              <a:rPr/>
              <a:t>Four concrete, actionable steps that move evaluation from theory into practice:</a:t>
            </a:r>
          </a:p>
          <a:p>
            <a:pPr lvl="0" indent="-342900" marL="342900">
              <a:buAutoNum type="arabicPeriod"/>
            </a:pPr>
            <a:r>
              <a:rPr/>
              <a:t>Construct a clear user funnel across Levels 1-4</a:t>
            </a:r>
          </a:p>
          <a:p>
            <a:pPr lvl="0" indent="-342900" marL="342900">
              <a:buAutoNum type="arabicPeriod"/>
            </a:pPr>
            <a:r>
              <a:rPr/>
              <a:t>Build and track metrics through robust ETL pipelines</a:t>
            </a:r>
          </a:p>
          <a:p>
            <a:pPr lvl="0" indent="-342900" marL="342900">
              <a:buAutoNum type="arabicPeriod"/>
            </a:pPr>
            <a:r>
              <a:rPr/>
              <a:t>Diagnose weak links through targeted hypotheses</a:t>
            </a:r>
          </a:p>
          <a:p>
            <a:pPr lvl="0" indent="-342900" marL="342900">
              <a:buAutoNum type="arabicPeriod"/>
            </a:pPr>
            <a:r>
              <a:rPr/>
              <a:t>Run experiments with rigor and speed</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Block 1: User Funnel</a:t>
            </a:r>
          </a:p>
        </p:txBody>
      </p:sp>
      <p:sp>
        <p:nvSpPr>
          <p:cNvPr id="3" name="Content Placeholder 2"/>
          <p:cNvSpPr>
            <a:spLocks noGrp="1"/>
          </p:cNvSpPr>
          <p:nvPr>
            <p:ph idx="1"/>
          </p:nvPr>
        </p:nvSpPr>
        <p:spPr/>
        <p:txBody>
          <a:bodyPr/>
          <a:lstStyle/>
          <a:p>
            <a:pPr lvl="0" indent="0" marL="0">
              <a:buNone/>
            </a:pPr>
            <a:r>
              <a:rPr/>
              <a:t>A </a:t>
            </a:r>
            <a:r>
              <a:rPr b="1"/>
              <a:t>user funnel</a:t>
            </a:r>
            <a:r>
              <a:rPr/>
              <a:t> is a structured way to map how individuals move through your product or program, from first exposure to long-term life impact. A comprehensive funnel creates a shared framework for tracking a user’s experience through a journey.</a:t>
            </a:r>
          </a:p>
          <a:p>
            <a:pPr lvl="0" indent="0" marL="0">
              <a:buNone/>
            </a:pPr>
            <a:r>
              <a:rPr b="1"/>
              <a:t>To build a robust funnel</a:t>
            </a:r>
            <a:r>
              <a:rPr/>
              <a:t>, teams should begin by defining the final development outcome they’re targeting (Level 4) - for instance, improved learning outcomes, better health, or increased crop yields. From there, work backward to break down the journey into specific user stages.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User Funnel: The 6 Stages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511300"/>
                <a:gridCol w="2819400"/>
                <a:gridCol w="3898900"/>
              </a:tblGrid>
              <a:tr h="0">
                <a:tc>
                  <a:txBody>
                    <a:bodyPr/>
                    <a:lstStyle/>
                    <a:p>
                      <a:pPr lvl="0" indent="0" marL="0">
                        <a:buNone/>
                      </a:pPr>
                      <a:r>
                        <a:rPr/>
                        <a:t>Stage</a:t>
                      </a:r>
                    </a:p>
                  </a:txBody>
                  <a:tcPr/>
                </a:tc>
                <a:tc>
                  <a:txBody>
                    <a:bodyPr/>
                    <a:lstStyle/>
                    <a:p>
                      <a:pPr lvl="0" indent="0" marL="0">
                        <a:buNone/>
                      </a:pPr>
                      <a:r>
                        <a:rPr/>
                        <a:t>Description</a:t>
                      </a:r>
                    </a:p>
                  </a:txBody>
                  <a:tcPr/>
                </a:tc>
                <a:tc>
                  <a:txBody>
                    <a:bodyPr/>
                    <a:lstStyle/>
                    <a:p>
                      <a:pPr lvl="0" indent="0" marL="0">
                        <a:buNone/>
                      </a:pPr>
                      <a:r>
                        <a:rPr/>
                        <a:t>Evaluation Level</a:t>
                      </a:r>
                    </a:p>
                  </a:txBody>
                  <a:tcPr/>
                </a:tc>
              </a:tr>
              <a:tr h="0">
                <a:tc>
                  <a:txBody>
                    <a:bodyPr/>
                    <a:lstStyle/>
                    <a:p>
                      <a:pPr lvl="0" indent="0" marL="0">
                        <a:buNone/>
                      </a:pPr>
                      <a:r>
                        <a:rPr b="1"/>
                        <a:t>1. Recruitment</a:t>
                      </a:r>
                    </a:p>
                  </a:txBody>
                </a:tc>
                <a:tc>
                  <a:txBody>
                    <a:bodyPr/>
                    <a:lstStyle/>
                    <a:p>
                      <a:pPr lvl="0" indent="0" marL="0">
                        <a:buNone/>
                      </a:pPr>
                      <a:r>
                        <a:rPr/>
                        <a:t>Beneficiary identified and enters program</a:t>
                      </a:r>
                    </a:p>
                  </a:txBody>
                </a:tc>
                <a:tc>
                  <a:txBody>
                    <a:bodyPr/>
                    <a:lstStyle/>
                    <a:p>
                      <a:pPr lvl="0" indent="0" marL="0">
                        <a:buNone/>
                      </a:pPr>
                      <a:r>
                        <a:rPr/>
                        <a:t>Level 2</a:t>
                      </a:r>
                    </a:p>
                  </a:txBody>
                </a:tc>
              </a:tr>
              <a:tr h="0">
                <a:tc>
                  <a:txBody>
                    <a:bodyPr/>
                    <a:lstStyle/>
                    <a:p>
                      <a:pPr lvl="0" indent="0" marL="0">
                        <a:buNone/>
                      </a:pPr>
                      <a:r>
                        <a:rPr b="1"/>
                        <a:t>2. Onboarding</a:t>
                      </a:r>
                    </a:p>
                  </a:txBody>
                </a:tc>
                <a:tc>
                  <a:txBody>
                    <a:bodyPr/>
                    <a:lstStyle/>
                    <a:p>
                      <a:pPr lvl="0" indent="0" marL="0">
                        <a:buNone/>
                      </a:pPr>
                      <a:r>
                        <a:rPr/>
                        <a:t>User introduced to AI product and completes setup</a:t>
                      </a:r>
                    </a:p>
                  </a:txBody>
                </a:tc>
                <a:tc>
                  <a:txBody>
                    <a:bodyPr/>
                    <a:lstStyle/>
                    <a:p>
                      <a:pPr lvl="0" indent="0" marL="0">
                        <a:buNone/>
                      </a:pPr>
                      <a:r>
                        <a:rPr/>
                        <a:t>Level 2</a:t>
                      </a:r>
                    </a:p>
                  </a:txBody>
                </a:tc>
              </a:tr>
              <a:tr h="0">
                <a:tc>
                  <a:txBody>
                    <a:bodyPr/>
                    <a:lstStyle/>
                    <a:p>
                      <a:pPr lvl="0" indent="0" marL="0">
                        <a:buNone/>
                      </a:pPr>
                      <a:r>
                        <a:rPr b="1"/>
                        <a:t>3. Engagement</a:t>
                      </a:r>
                    </a:p>
                  </a:txBody>
                </a:tc>
                <a:tc>
                  <a:txBody>
                    <a:bodyPr/>
                    <a:lstStyle/>
                    <a:p>
                      <a:pPr lvl="0" indent="0" marL="0">
                        <a:buNone/>
                      </a:pPr>
                      <a:r>
                        <a:rPr/>
                        <a:t>User begins actively interacting with AI product</a:t>
                      </a:r>
                    </a:p>
                  </a:txBody>
                </a:tc>
                <a:tc>
                  <a:txBody>
                    <a:bodyPr/>
                    <a:lstStyle/>
                    <a:p>
                      <a:pPr lvl="0" indent="0" marL="0">
                        <a:buNone/>
                      </a:pPr>
                      <a:r>
                        <a:rPr/>
                        <a:t>Level 2</a:t>
                      </a:r>
                    </a:p>
                  </a:txBody>
                </a:tc>
              </a:tr>
              <a:tr h="0">
                <a:tc>
                  <a:txBody>
                    <a:bodyPr/>
                    <a:lstStyle/>
                    <a:p>
                      <a:pPr lvl="0" indent="0" marL="0">
                        <a:buNone/>
                      </a:pPr>
                      <a:r>
                        <a:rPr b="1"/>
                        <a:t>4. Retention</a:t>
                      </a:r>
                    </a:p>
                  </a:txBody>
                </a:tc>
                <a:tc>
                  <a:txBody>
                    <a:bodyPr/>
                    <a:lstStyle/>
                    <a:p>
                      <a:pPr lvl="0" indent="0" marL="0">
                        <a:buNone/>
                      </a:pPr>
                      <a:r>
                        <a:rPr/>
                        <a:t>User continues engaging over time (not dropping off)</a:t>
                      </a:r>
                    </a:p>
                  </a:txBody>
                </a:tc>
                <a:tc>
                  <a:txBody>
                    <a:bodyPr/>
                    <a:lstStyle/>
                    <a:p>
                      <a:pPr lvl="0" indent="0" marL="0">
                        <a:buNone/>
                      </a:pPr>
                      <a:r>
                        <a:rPr/>
                        <a:t>Level 2</a:t>
                      </a:r>
                    </a:p>
                  </a:txBody>
                </a:tc>
              </a:tr>
              <a:tr h="0">
                <a:tc>
                  <a:txBody>
                    <a:bodyPr/>
                    <a:lstStyle/>
                    <a:p>
                      <a:pPr lvl="0" indent="0" marL="0">
                        <a:buNone/>
                      </a:pPr>
                      <a:r>
                        <a:rPr b="1"/>
                        <a:t>5. Proximal Outcome</a:t>
                      </a:r>
                    </a:p>
                  </a:txBody>
                </a:tc>
                <a:tc>
                  <a:txBody>
                    <a:bodyPr/>
                    <a:lstStyle/>
                    <a:p>
                      <a:pPr lvl="0" indent="0" marL="0">
                        <a:buNone/>
                      </a:pPr>
                      <a:r>
                        <a:rPr/>
                        <a:t>Near-term cognitive or behavioral change</a:t>
                      </a:r>
                    </a:p>
                  </a:txBody>
                </a:tc>
                <a:tc>
                  <a:txBody>
                    <a:bodyPr/>
                    <a:lstStyle/>
                    <a:p>
                      <a:pPr lvl="0" indent="0" marL="0">
                        <a:buNone/>
                      </a:pPr>
                      <a:r>
                        <a:rPr/>
                        <a:t>Level 3</a:t>
                      </a:r>
                    </a:p>
                  </a:txBody>
                </a:tc>
              </a:tr>
              <a:tr h="0">
                <a:tc>
                  <a:txBody>
                    <a:bodyPr/>
                    <a:lstStyle/>
                    <a:p>
                      <a:pPr lvl="0" indent="0" marL="0">
                        <a:buNone/>
                      </a:pPr>
                      <a:r>
                        <a:rPr b="1"/>
                        <a:t>6. Development Outcome</a:t>
                      </a:r>
                    </a:p>
                  </a:txBody>
                </a:tc>
                <a:tc>
                  <a:txBody>
                    <a:bodyPr/>
                    <a:lstStyle/>
                    <a:p>
                      <a:pPr lvl="0" indent="0" marL="0">
                        <a:buNone/>
                      </a:pPr>
                      <a:r>
                        <a:rPr/>
                        <a:t>Long-term desired result achieved</a:t>
                      </a:r>
                    </a:p>
                  </a:txBody>
                </a:tc>
                <a:tc>
                  <a:txBody>
                    <a:bodyPr/>
                    <a:lstStyle/>
                    <a:p>
                      <a:pPr lvl="0" indent="0" marL="0">
                        <a:buNone/>
                      </a:pPr>
                      <a:r>
                        <a:rPr/>
                        <a:t>Level 4</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User Funnel: What to Define for Each Stage</a:t>
            </a:r>
          </a:p>
        </p:txBody>
      </p:sp>
      <p:sp>
        <p:nvSpPr>
          <p:cNvPr id="4" name="Text Placeholder 3"/>
          <p:cNvSpPr>
            <a:spLocks noGrp="1"/>
          </p:cNvSpPr>
          <p:nvPr>
            <p:ph idx="2" sz="half" type="body"/>
          </p:nvPr>
        </p:nvSpPr>
        <p:spPr/>
        <p:txBody>
          <a:bodyPr/>
          <a:lstStyle/>
          <a:p>
            <a:pPr lvl="0" indent="0" marL="0">
              <a:buNone/>
            </a:pPr>
            <a:r>
              <a:rPr/>
              <a:t>For each stage, teams should clearly define: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082800"/>
                <a:gridCol w="3022600"/>
              </a:tblGrid>
              <a:tr h="0">
                <a:tc>
                  <a:txBody>
                    <a:bodyPr/>
                    <a:lstStyle/>
                    <a:p>
                      <a:pPr lvl="0" indent="0" marL="0">
                        <a:buNone/>
                      </a:pPr>
                      <a:r>
                        <a:rPr/>
                        <a:t>Element</a:t>
                      </a:r>
                    </a:p>
                  </a:txBody>
                  <a:tcPr/>
                </a:tc>
                <a:tc>
                  <a:txBody>
                    <a:bodyPr/>
                    <a:lstStyle/>
                    <a:p>
                      <a:pPr lvl="0" indent="0" marL="0">
                        <a:buNone/>
                      </a:pPr>
                      <a:r>
                        <a:rPr/>
                        <a:t>Description</a:t>
                      </a:r>
                    </a:p>
                  </a:txBody>
                  <a:tcPr/>
                </a:tc>
              </a:tr>
              <a:tr h="0">
                <a:tc>
                  <a:txBody>
                    <a:bodyPr/>
                    <a:lstStyle/>
                    <a:p>
                      <a:pPr lvl="0" indent="0" marL="0">
                        <a:buNone/>
                      </a:pPr>
                      <a:r>
                        <a:rPr b="1"/>
                        <a:t>What program does</a:t>
                      </a:r>
                    </a:p>
                  </a:txBody>
                </a:tc>
                <a:tc>
                  <a:txBody>
                    <a:bodyPr/>
                    <a:lstStyle/>
                    <a:p>
                      <a:pPr lvl="0" indent="0" marL="0">
                        <a:buNone/>
                      </a:pPr>
                      <a:r>
                        <a:rPr/>
                        <a:t>Actions to bring users into that stage</a:t>
                      </a:r>
                    </a:p>
                  </a:txBody>
                </a:tc>
              </a:tr>
              <a:tr h="0">
                <a:tc>
                  <a:txBody>
                    <a:bodyPr/>
                    <a:lstStyle/>
                    <a:p>
                      <a:pPr lvl="0" indent="0" marL="0">
                        <a:buNone/>
                      </a:pPr>
                      <a:r>
                        <a:rPr b="1"/>
                        <a:t>What user must do</a:t>
                      </a:r>
                    </a:p>
                  </a:txBody>
                </a:tc>
                <a:tc>
                  <a:txBody>
                    <a:bodyPr/>
                    <a:lstStyle/>
                    <a:p>
                      <a:pPr lvl="0" indent="0" marL="0">
                        <a:buNone/>
                      </a:pPr>
                      <a:r>
                        <a:rPr/>
                        <a:t>User actions that count as entering the stage</a:t>
                      </a:r>
                    </a:p>
                  </a:txBody>
                </a:tc>
              </a:tr>
              <a:tr h="0">
                <a:tc>
                  <a:txBody>
                    <a:bodyPr/>
                    <a:lstStyle/>
                    <a:p>
                      <a:pPr lvl="0" indent="0" marL="0">
                        <a:buNone/>
                      </a:pPr>
                      <a:r>
                        <a:rPr b="1"/>
                        <a:t>Metric</a:t>
                      </a:r>
                    </a:p>
                  </a:txBody>
                </a:tc>
                <a:tc>
                  <a:txBody>
                    <a:bodyPr/>
                    <a:lstStyle/>
                    <a:p>
                      <a:pPr lvl="0" indent="0" marL="0">
                        <a:buNone/>
                      </a:pPr>
                      <a:r>
                        <a:rPr/>
                        <a:t>Measurement that confirms entry (e.g., login rate, session length)</a:t>
                      </a:r>
                    </a:p>
                  </a:txBody>
                </a:tc>
              </a:tr>
              <a:tr h="0">
                <a:tc>
                  <a:txBody>
                    <a:bodyPr/>
                    <a:lstStyle/>
                    <a:p>
                      <a:pPr lvl="0" indent="0" marL="0">
                        <a:buNone/>
                      </a:pPr>
                      <a:r>
                        <a:rPr b="1"/>
                        <a:t>Target values</a:t>
                      </a:r>
                    </a:p>
                  </a:txBody>
                </a:tc>
                <a:tc>
                  <a:txBody>
                    <a:bodyPr/>
                    <a:lstStyle/>
                    <a:p>
                      <a:pPr lvl="0" indent="0" marL="0">
                        <a:buNone/>
                      </a:pPr>
                      <a:r>
                        <a:rPr/>
                        <a:t>Target metric values and transition rates between stages</a:t>
                      </a:r>
                    </a:p>
                  </a:txBody>
                </a:tc>
              </a:tr>
              <a:tr h="0">
                <a:tc>
                  <a:txBody>
                    <a:bodyPr/>
                    <a:lstStyle/>
                    <a:p>
                      <a:pPr lvl="0" indent="0" marL="0">
                        <a:buNone/>
                      </a:pPr>
                      <a:r>
                        <a:rPr b="1"/>
                        <a:t>Costs</a:t>
                      </a:r>
                    </a:p>
                  </a:txBody>
                </a:tc>
                <a:tc>
                  <a:txBody>
                    <a:bodyPr/>
                    <a:lstStyle/>
                    <a:p>
                      <a:pPr lvl="0" indent="0" marL="0">
                        <a:buNone/>
                      </a:pPr>
                      <a:r>
                        <a:rPr/>
                        <a:t>Costs associated with moving a user through the stage</a:t>
                      </a:r>
                    </a:p>
                  </a:txBody>
                </a:tc>
              </a:tr>
              <a:tr h="0">
                <a:tc>
                  <a:txBody>
                    <a:bodyPr/>
                    <a:lstStyle/>
                    <a:p>
                      <a:pPr lvl="0" indent="0" marL="0">
                        <a:buNone/>
                      </a:pPr>
                      <a:r>
                        <a:rPr b="1"/>
                        <a:t>DRIs</a:t>
                      </a:r>
                    </a:p>
                  </a:txBody>
                </a:tc>
                <a:tc>
                  <a:txBody>
                    <a:bodyPr/>
                    <a:lstStyle/>
                    <a:p>
                      <a:pPr lvl="0" indent="0" marL="0">
                        <a:buNone/>
                      </a:pPr>
                      <a:r>
                        <a:rPr/>
                        <a:t>Directly Responsible Individuals for performance and metrics</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Block 2: ETL Pipelines</a:t>
            </a:r>
          </a:p>
        </p:txBody>
      </p:sp>
      <p:sp>
        <p:nvSpPr>
          <p:cNvPr id="3" name="Content Placeholder 2"/>
          <p:cNvSpPr>
            <a:spLocks noGrp="1"/>
          </p:cNvSpPr>
          <p:nvPr>
            <p:ph idx="1"/>
          </p:nvPr>
        </p:nvSpPr>
        <p:spPr/>
        <p:txBody>
          <a:bodyPr/>
          <a:lstStyle/>
          <a:p>
            <a:pPr lvl="0" indent="0" marL="0">
              <a:buNone/>
            </a:pPr>
            <a:r>
              <a:rPr/>
              <a:t>A well-designed evaluation framework is only as good as the data infrastructure that supports it. At the heart of that infrastructure is a robust </a:t>
            </a:r>
            <a:r>
              <a:rPr b="1"/>
              <a:t>ETL pipeline</a:t>
            </a:r>
            <a:r>
              <a:rPr/>
              <a:t> - a system that extracts, transforms, and loads data to power consistent, reliable measurement of program indicators.</a:t>
            </a:r>
          </a:p>
          <a:p>
            <a:pPr lvl="0" indent="0" marL="0">
              <a:buNone/>
            </a:pPr>
            <a:r>
              <a:rPr b="1"/>
              <a:t>Extract</a:t>
            </a:r>
            <a:r>
              <a:rPr/>
              <a:t>: Collect data from various sources - chat logs, product telemetry, survey tools, third-party APIs, or even spreadsheets</a:t>
            </a:r>
          </a:p>
          <a:p>
            <a:pPr lvl="0" indent="0" marL="0">
              <a:buNone/>
            </a:pPr>
            <a:r>
              <a:rPr b="1"/>
              <a:t>Transform</a:t>
            </a:r>
            <a:r>
              <a:rPr/>
              <a:t>: Clean, standardize, and reshape the raw data into a usable format. This could involve timestamp alignment, anonymization, session stitching, or deriving new metrics like time-on-task or trust indicators</a:t>
            </a:r>
          </a:p>
          <a:p>
            <a:pPr lvl="0" indent="0" marL="0">
              <a:buNone/>
            </a:pPr>
            <a:r>
              <a:rPr b="1"/>
              <a:t>Load</a:t>
            </a:r>
            <a:r>
              <a:rPr/>
              <a:t>: Store the transformed data in a centralized system (like a data warehouse or analytics dashboard) where teams can access it for analysis, visualization, or modeling</a:t>
            </a:r>
          </a:p>
          <a:p>
            <a:pPr lvl="0" indent="0" marL="0">
              <a:buNone/>
            </a:pPr>
            <a:r>
              <a:rPr b="1"/>
              <a:t>Why critical</a:t>
            </a:r>
            <a:r>
              <a:rPr/>
              <a:t>: AI products, especially those using generative models, produce high volumes of complex, often unstructured data: prompts, outputs, clicks, feedback, engagement patterns, and more. Without a clear ETL pipeline, turning raw data into actionable metrics at scale becomes unreliable and slow.</a:t>
            </a:r>
          </a:p>
          <a:p>
            <a:pPr lvl="0" indent="0" marL="0">
              <a:buNone/>
            </a:pPr>
            <a:r>
              <a:rPr b="1"/>
              <a:t>Example</a:t>
            </a:r>
            <a:r>
              <a:rPr/>
              <a:t>: A product designed to support adolescent mental health might collect model-level outputs (Level 1), engagement logs (Level 2), behavioral indicators (Level 3), and outcome data (Level 4) - all requiring integration through a robust pipeline.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Block 3: Targeted Hypotheses</a:t>
            </a:r>
          </a:p>
        </p:txBody>
      </p:sp>
      <p:sp>
        <p:nvSpPr>
          <p:cNvPr id="3" name="Content Placeholder 2"/>
          <p:cNvSpPr>
            <a:spLocks noGrp="1"/>
          </p:cNvSpPr>
          <p:nvPr>
            <p:ph idx="1"/>
          </p:nvPr>
        </p:nvSpPr>
        <p:spPr/>
        <p:txBody>
          <a:bodyPr/>
          <a:lstStyle/>
          <a:p>
            <a:pPr lvl="0" indent="0" marL="0">
              <a:buNone/>
            </a:pPr>
            <a:r>
              <a:rPr/>
              <a:t>Once a user funnel is in place and metrics are flowing through a robust ETL pipeline, the next challenge is understanding why certain funnel metrics are underperforming.</a:t>
            </a:r>
          </a:p>
          <a:p>
            <a:pPr lvl="0" indent="0" marL="0">
              <a:buNone/>
            </a:pPr>
            <a:r>
              <a:rPr b="1"/>
              <a:t>Process</a:t>
            </a:r>
            <a:r>
              <a:rPr/>
              <a:t>: 1. </a:t>
            </a:r>
            <a:r>
              <a:rPr b="1"/>
              <a:t>Identify drop-offs</a:t>
            </a:r>
            <a:r>
              <a:rPr/>
              <a:t>: Start by identifying major user drop-offs along the funnel 2. </a:t>
            </a:r>
            <a:r>
              <a:rPr b="1"/>
              <a:t>Develop hypotheses</a:t>
            </a:r>
            <a:r>
              <a:rPr/>
              <a:t>: Pose specific, testable questions: </a:t>
            </a:r>
            <a:r>
              <a:rPr i="1"/>
              <a:t>Why are users stalling? What mechanism explains this?</a:t>
            </a:r>
            <a:r>
              <a:rPr/>
              <a:t> 3. </a:t>
            </a:r>
            <a:r>
              <a:rPr b="1"/>
              <a:t>Surface competing hypotheses</a:t>
            </a:r>
            <a:r>
              <a:rPr/>
              <a:t>: For example, if engagement dips after onboarding: </a:t>
            </a:r>
            <a:r>
              <a:rPr i="1"/>
              <a:t>Is value proposition unclear? Are users overwhelmed? Do they mistrust the AI?</a:t>
            </a:r>
            <a:r>
              <a:rPr/>
              <a:t> 4. </a:t>
            </a:r>
            <a:r>
              <a:rPr b="1"/>
              <a:t>Test hypotheses</a:t>
            </a:r>
            <a:r>
              <a:rPr/>
              <a:t>: Each hypothesis becomes a lens for focused measurement or experiments</a:t>
            </a:r>
          </a:p>
          <a:p>
            <a:pPr lvl="0" indent="0" marL="0">
              <a:buNone/>
            </a:pPr>
            <a:r>
              <a:rPr b="1"/>
              <a:t>Goal</a:t>
            </a:r>
            <a:r>
              <a:rPr/>
              <a:t>: Make evaluation generative - helps teams ask better questions, faster. This approach sits at the intersection of product management, UX research, and behavioral science.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Block 4: Experiments</a:t>
            </a:r>
          </a:p>
        </p:txBody>
      </p:sp>
      <p:sp>
        <p:nvSpPr>
          <p:cNvPr id="3" name="Content Placeholder 2"/>
          <p:cNvSpPr>
            <a:spLocks noGrp="1"/>
          </p:cNvSpPr>
          <p:nvPr>
            <p:ph idx="1"/>
          </p:nvPr>
        </p:nvSpPr>
        <p:spPr/>
        <p:txBody>
          <a:bodyPr/>
          <a:lstStyle/>
          <a:p>
            <a:pPr lvl="0" indent="0" marL="0">
              <a:buNone/>
            </a:pPr>
            <a:r>
              <a:rPr/>
              <a:t>Test hypotheses through experimentation:</a:t>
            </a:r>
          </a:p>
          <a:p>
            <a:pPr lvl="0"/>
            <a:r>
              <a:rPr b="1"/>
              <a:t>A/B tests</a:t>
            </a:r>
            <a:r>
              <a:rPr/>
              <a:t>: For lightweight product tweaks (prompts, messages)</a:t>
            </a:r>
          </a:p>
          <a:p>
            <a:pPr lvl="0"/>
            <a:r>
              <a:rPr b="1"/>
              <a:t>Hold-out tests</a:t>
            </a:r>
            <a:r>
              <a:rPr/>
              <a:t>: For more complex behavioral shifts</a:t>
            </a:r>
          </a:p>
          <a:p>
            <a:pPr lvl="0"/>
            <a:r>
              <a:rPr b="1"/>
              <a:t>Pragmatic RCTs</a:t>
            </a:r>
            <a:r>
              <a:rPr/>
              <a:t>: For policy-relevant questions</a:t>
            </a:r>
          </a:p>
          <a:p>
            <a:pPr lvl="0"/>
            <a:r>
              <a:rPr b="1"/>
              <a:t>Full RCTs</a:t>
            </a:r>
            <a:r>
              <a:rPr/>
              <a:t>: When causal question justifies cost</a:t>
            </a:r>
          </a:p>
          <a:p>
            <a:pPr lvl="0" indent="0" marL="0">
              <a:buNone/>
            </a:pPr>
            <a:r>
              <a:rPr b="1"/>
              <a:t>Key</a:t>
            </a:r>
            <a:r>
              <a:rPr/>
              <a:t>: Match experimentation to product maturity, hypothesis scale, and decision stakes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Building Cross-Functional Teams</a:t>
            </a:r>
          </a:p>
        </p:txBody>
      </p:sp>
      <p:sp>
        <p:nvSpPr>
          <p:cNvPr id="4" name="Text Placeholder 3"/>
          <p:cNvSpPr>
            <a:spLocks noGrp="1"/>
          </p:cNvSpPr>
          <p:nvPr>
            <p:ph idx="2" sz="half" type="body"/>
          </p:nvPr>
        </p:nvSpPr>
        <p:spPr/>
        <p:txBody>
          <a:bodyPr/>
          <a:lstStyle/>
          <a:p>
            <a:pPr lvl="0" indent="0" marL="0">
              <a:buNone/>
            </a:pPr>
            <a:r>
              <a:rPr/>
              <a:t>Evaluation is a </a:t>
            </a:r>
            <a:r>
              <a:rPr b="1"/>
              <a:t>team sport</a:t>
            </a:r>
            <a:r>
              <a:rPr/>
              <a:t> - no single role covers all four levels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54100"/>
                <a:gridCol w="1803400"/>
                <a:gridCol w="2247900"/>
              </a:tblGrid>
              <a:tr h="0">
                <a:tc>
                  <a:txBody>
                    <a:bodyPr/>
                    <a:lstStyle/>
                    <a:p>
                      <a:pPr lvl="0" indent="0" marL="0">
                        <a:buNone/>
                      </a:pPr>
                      <a:r>
                        <a:rPr/>
                        <a:t>Level</a:t>
                      </a:r>
                    </a:p>
                  </a:txBody>
                  <a:tcPr/>
                </a:tc>
                <a:tc>
                  <a:txBody>
                    <a:bodyPr/>
                    <a:lstStyle/>
                    <a:p>
                      <a:pPr lvl="0" indent="0" marL="0">
                        <a:buNone/>
                      </a:pPr>
                      <a:r>
                        <a:rPr/>
                        <a:t>Lead Roles</a:t>
                      </a:r>
                    </a:p>
                  </a:txBody>
                  <a:tcPr/>
                </a:tc>
                <a:tc>
                  <a:txBody>
                    <a:bodyPr/>
                    <a:lstStyle/>
                    <a:p>
                      <a:pPr lvl="0" indent="0" marL="0">
                        <a:buNone/>
                      </a:pPr>
                      <a:r>
                        <a:rPr/>
                        <a:t>Support Roles</a:t>
                      </a:r>
                    </a:p>
                  </a:txBody>
                  <a:tcPr/>
                </a:tc>
              </a:tr>
              <a:tr h="0">
                <a:tc>
                  <a:txBody>
                    <a:bodyPr/>
                    <a:lstStyle/>
                    <a:p>
                      <a:pPr lvl="0" indent="0" marL="0">
                        <a:buNone/>
                      </a:pPr>
                      <a:r>
                        <a:rPr b="1"/>
                        <a:t>Level 1</a:t>
                      </a:r>
                    </a:p>
                  </a:txBody>
                </a:tc>
                <a:tc>
                  <a:txBody>
                    <a:bodyPr/>
                    <a:lstStyle/>
                    <a:p>
                      <a:pPr lvl="0" indent="0" marL="0">
                        <a:buNone/>
                      </a:pPr>
                      <a:r>
                        <a:rPr/>
                        <a:t>AI Engineers, ML Researchers</a:t>
                      </a:r>
                    </a:p>
                  </a:txBody>
                </a:tc>
                <a:tc>
                  <a:txBody>
                    <a:bodyPr/>
                    <a:lstStyle/>
                    <a:p>
                      <a:pPr lvl="0" indent="0" marL="0">
                        <a:buNone/>
                      </a:pPr>
                      <a:r>
                        <a:rPr/>
                        <a:t>Domain Experts, Product Owners</a:t>
                      </a:r>
                    </a:p>
                  </a:txBody>
                </a:tc>
              </a:tr>
              <a:tr h="0">
                <a:tc>
                  <a:txBody>
                    <a:bodyPr/>
                    <a:lstStyle/>
                    <a:p>
                      <a:pPr lvl="0" indent="0" marL="0">
                        <a:buNone/>
                      </a:pPr>
                      <a:r>
                        <a:rPr b="1"/>
                        <a:t>Level 2</a:t>
                      </a:r>
                    </a:p>
                  </a:txBody>
                </a:tc>
                <a:tc>
                  <a:txBody>
                    <a:bodyPr/>
                    <a:lstStyle/>
                    <a:p>
                      <a:pPr lvl="0" indent="0" marL="0">
                        <a:buNone/>
                      </a:pPr>
                      <a:r>
                        <a:rPr/>
                        <a:t>Product Managers</a:t>
                      </a:r>
                    </a:p>
                  </a:txBody>
                </a:tc>
                <a:tc>
                  <a:txBody>
                    <a:bodyPr/>
                    <a:lstStyle/>
                    <a:p>
                      <a:pPr lvl="0" indent="0" marL="0">
                        <a:buNone/>
                      </a:pPr>
                      <a:r>
                        <a:rPr/>
                        <a:t>Data Scientists, Data Engineers</a:t>
                      </a:r>
                    </a:p>
                  </a:txBody>
                </a:tc>
              </a:tr>
              <a:tr h="0">
                <a:tc>
                  <a:txBody>
                    <a:bodyPr/>
                    <a:lstStyle/>
                    <a:p>
                      <a:pPr lvl="0" indent="0" marL="0">
                        <a:buNone/>
                      </a:pPr>
                      <a:r>
                        <a:rPr b="1"/>
                        <a:t>Level 3</a:t>
                      </a:r>
                    </a:p>
                  </a:txBody>
                </a:tc>
                <a:tc>
                  <a:txBody>
                    <a:bodyPr/>
                    <a:lstStyle/>
                    <a:p>
                      <a:pPr lvl="0" indent="0" marL="0">
                        <a:buNone/>
                      </a:pPr>
                      <a:r>
                        <a:rPr/>
                        <a:t>Psychologists, UX Researchers</a:t>
                      </a:r>
                    </a:p>
                  </a:txBody>
                </a:tc>
                <a:tc>
                  <a:txBody>
                    <a:bodyPr/>
                    <a:lstStyle/>
                    <a:p>
                      <a:pPr lvl="0" indent="0" marL="0">
                        <a:buNone/>
                      </a:pPr>
                      <a:r>
                        <a:rPr/>
                        <a:t>Data Scientists</a:t>
                      </a:r>
                    </a:p>
                  </a:txBody>
                </a:tc>
              </a:tr>
              <a:tr h="0">
                <a:tc>
                  <a:txBody>
                    <a:bodyPr/>
                    <a:lstStyle/>
                    <a:p>
                      <a:pPr lvl="0" indent="0" marL="0">
                        <a:buNone/>
                      </a:pPr>
                      <a:r>
                        <a:rPr b="1"/>
                        <a:t>Level 4</a:t>
                      </a:r>
                    </a:p>
                  </a:txBody>
                </a:tc>
                <a:tc>
                  <a:txBody>
                    <a:bodyPr/>
                    <a:lstStyle/>
                    <a:p>
                      <a:pPr lvl="0" indent="0" marL="0">
                        <a:buNone/>
                      </a:pPr>
                      <a:r>
                        <a:rPr/>
                        <a:t>Policy Researchers, Economists</a:t>
                      </a:r>
                    </a:p>
                  </a:txBody>
                </a:tc>
                <a:tc>
                  <a:txBody>
                    <a:bodyPr/>
                    <a:lstStyle/>
                    <a:p>
                      <a:pPr lvl="0" indent="0" marL="0">
                        <a:buNone/>
                      </a:pPr>
                      <a:r>
                        <a:rPr/>
                        <a:t>AI Engineers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 for Cross-Functional Teams</a:t>
            </a:r>
          </a:p>
        </p:txBody>
      </p:sp>
      <p:sp>
        <p:nvSpPr>
          <p:cNvPr id="3" name="Content Placeholder 2"/>
          <p:cNvSpPr>
            <a:spLocks noGrp="1"/>
          </p:cNvSpPr>
          <p:nvPr>
            <p:ph idx="1"/>
          </p:nvPr>
        </p:nvSpPr>
        <p:spPr/>
        <p:txBody>
          <a:bodyPr/>
          <a:lstStyle/>
          <a:p>
            <a:pPr lvl="0" indent="-342900" marL="342900">
              <a:buAutoNum type="arabicPeriod"/>
            </a:pPr>
            <a:r>
              <a:rPr b="1"/>
              <a:t>Look Beyond Your Slices</a:t>
            </a:r>
            <a:r>
              <a:rPr/>
              <a:t>: Understand how your work affects other levels</a:t>
            </a:r>
          </a:p>
          <a:p>
            <a:pPr lvl="0" indent="-342900" marL="342900">
              <a:buAutoNum type="arabicPeriod"/>
            </a:pPr>
            <a:r>
              <a:rPr b="1"/>
              <a:t>Pair Engineers with Domain Experts Early</a:t>
            </a:r>
            <a:r>
              <a:rPr/>
              <a:t>: Involve domain experts at Level 1 from start</a:t>
            </a:r>
          </a:p>
          <a:p>
            <a:pPr lvl="0" indent="-342900" marL="342900">
              <a:buAutoNum type="arabicPeriod"/>
            </a:pPr>
            <a:r>
              <a:rPr b="1"/>
              <a:t>Identify Cross-Functional Lead</a:t>
            </a:r>
            <a:r>
              <a:rPr/>
              <a:t>: Product Managers connect dots across roles</a:t>
            </a:r>
          </a:p>
          <a:p>
            <a:pPr lvl="0" indent="-342900" marL="342900">
              <a:buAutoNum type="arabicPeriod"/>
            </a:pPr>
            <a:r>
              <a:rPr b="1"/>
              <a:t>Use Shared Evaluation Language</a:t>
            </a:r>
            <a:r>
              <a:rPr/>
              <a:t>: Common vocabulary using levels</a:t>
            </a:r>
          </a:p>
          <a:p>
            <a:pPr lvl="0" indent="-342900" marL="342900">
              <a:buAutoNum type="arabicPeriod"/>
            </a:pPr>
            <a:r>
              <a:rPr b="1"/>
              <a:t>Use Tools that Support Collaboration</a:t>
            </a:r>
            <a:r>
              <a:rPr/>
              <a:t>: Evaluation platforms, dashboards, experimentation tools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Level 1: Model Evaluation</a:t>
            </a:r>
          </a:p>
        </p:txBody>
      </p:sp>
      <p:sp>
        <p:nvSpPr>
          <p:cNvPr id="3" name="Content Placeholder 2"/>
          <p:cNvSpPr>
            <a:spLocks noGrp="1"/>
          </p:cNvSpPr>
          <p:nvPr>
            <p:ph idx="1"/>
          </p:nvPr>
        </p:nvSpPr>
        <p:spPr/>
        <p:txBody>
          <a:bodyPr/>
          <a:lstStyle/>
          <a:p>
            <a:pPr lvl="0" indent="0" marL="0">
              <a:buNone/>
            </a:pPr>
            <a:r>
              <a:rPr b="1"/>
              <a:t>Question</a:t>
            </a:r>
            <a:r>
              <a:rPr/>
              <a:t>: Does the AI model produce the desired responses?</a:t>
            </a:r>
          </a:p>
          <a:p>
            <a:pPr lvl="0" indent="0" marL="0">
              <a:buNone/>
            </a:pPr>
            <a:r>
              <a:rPr b="1"/>
              <a:t>Why important</a:t>
            </a:r>
            <a:r>
              <a:rPr/>
              <a:t>: AI models, especially large language models (LLMs) and related foundational models, do not “understand” content in the way humans do. Instead, they generate outputs by predicting the next word in a sequence based on statistical patterns in their training data. Because of this, models can </a:t>
            </a:r>
            <a:r>
              <a:rPr b="1"/>
              <a:t>hallucinate</a:t>
            </a:r>
            <a:r>
              <a:rPr/>
              <a:t> or appear fluent and convincing while still being inaccurate, biased, irrelevant, or even harmful.</a:t>
            </a:r>
          </a:p>
          <a:p>
            <a:pPr lvl="0" indent="0" marL="0">
              <a:buNone/>
            </a:pPr>
            <a:r>
              <a:rPr/>
              <a:t>This makes structured model evaluation essential. We need to systematically and rigorously assess whether an AI system consistently meets conditions such as usefulness, accuracy, appropriateness, and safety across diverse tasks and user contexts. This is especially critical when AI tools are deployed in sensitive domains like education, health, or agriculture, where misinformation or misalignment can cause real harm.</a:t>
            </a:r>
          </a:p>
          <a:p>
            <a:pPr lvl="0" indent="0" marL="0">
              <a:buNone/>
            </a:pPr>
            <a:r>
              <a:rPr/>
              <a:t>Beyond ensuring safety, developers must also evaluate that their AI systems exhibit desirable behaviors and characteristics proven to have a real-world impact. For instance, an AI tutor should follow pedagogical best practices - such as withholding answers to encourage self-directed learning and accurately gauging a student’s level to tailor instruction.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Being Assessed?</a:t>
            </a:r>
          </a:p>
        </p:txBody>
      </p:sp>
      <p:sp>
        <p:nvSpPr>
          <p:cNvPr id="3" name="Content Placeholder 2"/>
          <p:cNvSpPr>
            <a:spLocks noGrp="1"/>
          </p:cNvSpPr>
          <p:nvPr>
            <p:ph idx="1"/>
          </p:nvPr>
        </p:nvSpPr>
        <p:spPr/>
        <p:txBody>
          <a:bodyPr/>
          <a:lstStyle/>
          <a:p>
            <a:pPr lvl="0" indent="0" marL="0">
              <a:buNone/>
            </a:pPr>
            <a:r>
              <a:rPr/>
              <a:t>Most Generative AI applications are built on foundational models like those from OpenAI (GPT), Anthropic (Claude), Google (Gemini), or Meta (Llama). However, your application is a full system, not just the foundational model. It includes many other components that can be grouped into three buckets:</a:t>
            </a:r>
          </a:p>
          <a:p>
            <a:pPr lvl="0" indent="0" marL="0">
              <a:buNone/>
            </a:pPr>
            <a:r>
              <a:rPr b="1"/>
              <a:t>Pre-processing</a:t>
            </a:r>
            <a:r>
              <a:rPr/>
              <a:t>: Before handing off the input from the user to the LLM, you may wish to transform it into a format suitable for the LLM. Examples include: sanitizing or filtering language; converting speech to text; paraphrasing the user’s request; translation from a low-resource language to a high-resource one.</a:t>
            </a:r>
          </a:p>
          <a:p>
            <a:pPr lvl="0" indent="0" marL="0">
              <a:buNone/>
            </a:pPr>
            <a:r>
              <a:rPr b="1"/>
              <a:t>LLM context preparation</a:t>
            </a:r>
            <a:r>
              <a:rPr/>
              <a:t>: An LLM takes three things as input: the “prompt” or system instructions, the user’s input after being pre-processed, and a “context” which can include past conversation history, relevant content retrieved from your knowledge base, or even tools available for the LLM to call.</a:t>
            </a:r>
          </a:p>
          <a:p>
            <a:pPr lvl="0" indent="0" marL="0">
              <a:buNone/>
            </a:pPr>
            <a:r>
              <a:rPr b="1"/>
              <a:t>Post-processing</a:t>
            </a:r>
            <a:r>
              <a:rPr/>
              <a:t>: Before returning the output to the user, you may also wish to transform it into the correct format and check the output using safety or quality guardrails. Examples include: hallucination checker, converting text to speech, translation to the user’s preferred language.</a:t>
            </a:r>
          </a:p>
          <a:p>
            <a:pPr lvl="0" indent="0" marL="0">
              <a:buNone/>
            </a:pPr>
            <a:r>
              <a:rPr b="1"/>
              <a:t>Example</a:t>
            </a:r>
            <a:r>
              <a:rPr/>
              <a:t>: An AI agronomist in Senegal, answering questions from farmers in Pulaar, might: (a) check input for malicious intent, (b) translate from Pulaar to English, (c) retrieve relevant content from database, (d) retrieve information about the farmer, (e) generate an answer, (f) check that the answer is grounded, (g) translate back to Pulaar. Model evaluations cover this entire pipeline.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is Most Involved?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47900"/>
                <a:gridCol w="5981700"/>
              </a:tblGrid>
              <a:tr h="0">
                <a:tc>
                  <a:txBody>
                    <a:bodyPr/>
                    <a:lstStyle/>
                    <a:p>
                      <a:pPr lvl="0" indent="0" marL="0">
                        <a:buNone/>
                      </a:pPr>
                      <a:r>
                        <a:rPr/>
                        <a:t>Role</a:t>
                      </a:r>
                    </a:p>
                  </a:txBody>
                  <a:tcPr/>
                </a:tc>
                <a:tc>
                  <a:txBody>
                    <a:bodyPr/>
                    <a:lstStyle/>
                    <a:p>
                      <a:pPr lvl="0" indent="0" marL="0">
                        <a:buNone/>
                      </a:pPr>
                      <a:r>
                        <a:rPr/>
                        <a:t>Responsibility</a:t>
                      </a:r>
                    </a:p>
                  </a:txBody>
                  <a:tcPr/>
                </a:tc>
              </a:tr>
              <a:tr h="0">
                <a:tc>
                  <a:txBody>
                    <a:bodyPr/>
                    <a:lstStyle/>
                    <a:p>
                      <a:pPr lvl="0" indent="0" marL="0">
                        <a:buNone/>
                      </a:pPr>
                      <a:r>
                        <a:rPr b="1"/>
                        <a:t>AI Engineers, ML Researchers</a:t>
                      </a:r>
                    </a:p>
                  </a:txBody>
                </a:tc>
                <a:tc>
                  <a:txBody>
                    <a:bodyPr/>
                    <a:lstStyle/>
                    <a:p>
                      <a:pPr lvl="0" indent="0" marL="0">
                        <a:buNone/>
                      </a:pPr>
                      <a:r>
                        <a:rPr/>
                        <a:t>Execute - Lead model evaluation process</a:t>
                      </a:r>
                    </a:p>
                  </a:txBody>
                </a:tc>
              </a:tr>
              <a:tr h="0">
                <a:tc>
                  <a:txBody>
                    <a:bodyPr/>
                    <a:lstStyle/>
                    <a:p>
                      <a:pPr lvl="0" indent="0" marL="0">
                        <a:buNone/>
                      </a:pPr>
                      <a:r>
                        <a:rPr b="1"/>
                        <a:t>Domain Experts, Product Owners</a:t>
                      </a:r>
                    </a:p>
                  </a:txBody>
                </a:tc>
                <a:tc>
                  <a:txBody>
                    <a:bodyPr/>
                    <a:lstStyle/>
                    <a:p>
                      <a:pPr lvl="0" indent="0" marL="0">
                        <a:buNone/>
                      </a:pPr>
                      <a:r>
                        <a:rPr/>
                        <a:t>Support - Define evaluation rubrics</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Evaluate: 6 Steps</a:t>
            </a:r>
          </a:p>
        </p:txBody>
      </p:sp>
      <p:sp>
        <p:nvSpPr>
          <p:cNvPr id="3" name="Content Placeholder 2"/>
          <p:cNvSpPr>
            <a:spLocks noGrp="1"/>
          </p:cNvSpPr>
          <p:nvPr>
            <p:ph idx="1"/>
          </p:nvPr>
        </p:nvSpPr>
        <p:spPr/>
        <p:txBody>
          <a:bodyPr/>
          <a:lstStyle/>
          <a:p>
            <a:pPr lvl="0" indent="-342900" marL="342900">
              <a:buAutoNum type="arabicPeriod"/>
            </a:pPr>
            <a:r>
              <a:rPr b="1"/>
              <a:t>Decide on rubric</a:t>
            </a:r>
            <a:r>
              <a:rPr/>
              <a:t>: What characteristics should the solution embody?</a:t>
            </a:r>
          </a:p>
          <a:p>
            <a:pPr lvl="0" indent="-342900" marL="342900">
              <a:buAutoNum type="arabicPeriod"/>
            </a:pPr>
            <a:r>
              <a:rPr b="1"/>
              <a:t>Decide on metrics</a:t>
            </a:r>
            <a:r>
              <a:rPr/>
              <a:t>: How to measure performance against rubric</a:t>
            </a:r>
          </a:p>
          <a:p>
            <a:pPr lvl="0" indent="-342900" marL="342900">
              <a:buAutoNum type="arabicPeriod"/>
            </a:pPr>
            <a:r>
              <a:rPr b="1"/>
              <a:t>Develop golden dataset</a:t>
            </a:r>
            <a:r>
              <a:rPr/>
              <a:t>: Representative user interactions</a:t>
            </a:r>
          </a:p>
          <a:p>
            <a:pPr lvl="0" indent="-342900" marL="342900">
              <a:buAutoNum type="arabicPeriod"/>
            </a:pPr>
            <a:r>
              <a:rPr b="1"/>
              <a:t>Run automated evaluations</a:t>
            </a:r>
            <a:r>
              <a:rPr/>
              <a:t>: Integrate into CI/CD pipeline</a:t>
            </a:r>
          </a:p>
          <a:p>
            <a:pPr lvl="0" indent="-342900" marL="342900">
              <a:buAutoNum type="arabicPeriod"/>
            </a:pPr>
            <a:r>
              <a:rPr b="1"/>
              <a:t>Measure scores and refine</a:t>
            </a:r>
            <a:r>
              <a:rPr/>
              <a:t>: Use scores to improve solution</a:t>
            </a:r>
          </a:p>
          <a:p>
            <a:pPr lvl="0" indent="-342900" marL="342900">
              <a:buAutoNum type="arabicPeriod"/>
            </a:pPr>
            <a:r>
              <a:rPr b="1"/>
              <a:t>Red-teaming</a:t>
            </a:r>
            <a:r>
              <a:rPr/>
              <a:t>: Actively try to break/pressure test before release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1: Decide on Rubric</a:t>
            </a:r>
          </a:p>
        </p:txBody>
      </p:sp>
      <p:sp>
        <p:nvSpPr>
          <p:cNvPr id="3" name="Content Placeholder 2"/>
          <p:cNvSpPr>
            <a:spLocks noGrp="1"/>
          </p:cNvSpPr>
          <p:nvPr>
            <p:ph idx="1"/>
          </p:nvPr>
        </p:nvSpPr>
        <p:spPr/>
        <p:txBody>
          <a:bodyPr/>
          <a:lstStyle/>
          <a:p>
            <a:pPr lvl="0" indent="0" marL="0">
              <a:buNone/>
            </a:pPr>
            <a:r>
              <a:rPr b="1"/>
              <a:t>Responsible</a:t>
            </a:r>
            <a:r>
              <a:rPr/>
              <a:t>: Product Owners and Domain Experts (with Engineering support)</a:t>
            </a:r>
          </a:p>
          <a:p>
            <a:pPr lvl="0" indent="0" marL="0">
              <a:buNone/>
            </a:pPr>
            <a:r>
              <a:rPr b="1"/>
              <a:t>Question</a:t>
            </a:r>
            <a:r>
              <a:rPr/>
              <a:t>: “What characteristics should our AI solution embody?” These are qualitative goals (e.g., “Trustworthy”, “On-Brand”, “Concise”). Most of the rubric will be determined by your use case, context, and impact goals. This step requires reflection and discussion with stakeholders - it is critical and guides the rest of your evaluation steps.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1: Rubric Examples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111500"/>
                <a:gridCol w="2006600"/>
                <a:gridCol w="3111500"/>
              </a:tblGrid>
              <a:tr h="0">
                <a:tc>
                  <a:txBody>
                    <a:bodyPr/>
                    <a:lstStyle/>
                    <a:p>
                      <a:pPr lvl="0" indent="0" marL="0">
                        <a:buNone/>
                      </a:pPr>
                      <a:r>
                        <a:rPr/>
                        <a:t>Organization</a:t>
                      </a:r>
                    </a:p>
                  </a:txBody>
                  <a:tcPr/>
                </a:tc>
                <a:tc>
                  <a:txBody>
                    <a:bodyPr/>
                    <a:lstStyle/>
                    <a:p>
                      <a:pPr lvl="0" indent="0" marL="0">
                        <a:buNone/>
                      </a:pPr>
                      <a:r>
                        <a:rPr/>
                        <a:t>Product</a:t>
                      </a:r>
                    </a:p>
                  </a:txBody>
                  <a:tcPr/>
                </a:tc>
                <a:tc>
                  <a:txBody>
                    <a:bodyPr/>
                    <a:lstStyle/>
                    <a:p>
                      <a:pPr lvl="0" indent="0" marL="0">
                        <a:buNone/>
                      </a:pPr>
                      <a:r>
                        <a:rPr/>
                        <a:t>Rubric Items</a:t>
                      </a:r>
                    </a:p>
                  </a:txBody>
                  <a:tcPr/>
                </a:tc>
              </a:tr>
              <a:tr h="0">
                <a:tc>
                  <a:txBody>
                    <a:bodyPr/>
                    <a:lstStyle/>
                    <a:p>
                      <a:pPr lvl="0" indent="0" marL="0">
                        <a:buNone/>
                      </a:pPr>
                      <a:r>
                        <a:rPr b="1"/>
                        <a:t>Jacaranda Health</a:t>
                      </a:r>
                    </a:p>
                  </a:txBody>
                </a:tc>
                <a:tc>
                  <a:txBody>
                    <a:bodyPr/>
                    <a:lstStyle/>
                    <a:p>
                      <a:pPr lvl="0" indent="0" marL="0">
                        <a:buNone/>
                      </a:pPr>
                      <a:r>
                        <a:rPr/>
                        <a:t>PROMPTS: Maternal health SMS service (Swahili/English)</a:t>
                      </a:r>
                    </a:p>
                  </a:txBody>
                </a:tc>
                <a:tc>
                  <a:txBody>
                    <a:bodyPr/>
                    <a:lstStyle/>
                    <a:p>
                      <a:pPr lvl="0" indent="0" marL="0">
                        <a:buNone/>
                      </a:pPr>
                      <a:r>
                        <a:rPr/>
                        <a:t>Medical accuracy, personability, simplicity</a:t>
                      </a:r>
                    </a:p>
                  </a:txBody>
                </a:tc>
              </a:tr>
              <a:tr h="0">
                <a:tc>
                  <a:txBody>
                    <a:bodyPr/>
                    <a:lstStyle/>
                    <a:p>
                      <a:pPr lvl="0" indent="0" marL="0">
                        <a:buNone/>
                      </a:pPr>
                      <a:r>
                        <a:rPr b="1"/>
                        <a:t>Digital Green</a:t>
                      </a:r>
                    </a:p>
                  </a:txBody>
                </a:tc>
                <a:tc>
                  <a:txBody>
                    <a:bodyPr/>
                    <a:lstStyle/>
                    <a:p>
                      <a:pPr lvl="0" indent="0" marL="0">
                        <a:buNone/>
                      </a:pPr>
                      <a:r>
                        <a:rPr/>
                        <a:t>Farmer.Chat: Agricultural advice platform (40+ crops, 4 countries)</a:t>
                      </a:r>
                    </a:p>
                  </a:txBody>
                </a:tc>
                <a:tc>
                  <a:txBody>
                    <a:bodyPr/>
                    <a:lstStyle/>
                    <a:p>
                      <a:pPr lvl="0" indent="0" marL="0">
                        <a:buNone/>
                      </a:pPr>
                      <a:r>
                        <a:rPr/>
                        <a:t>Faithfulness, relevance, accessibility</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Recommendation</a:t>
            </a:r>
            <a:r>
              <a:rPr/>
              <a:t>: Restrict to ~5 items. Longer lists = more expensive and difficult. Tradeoffs exist (e.g., concise vs. complete, friendly vs. direct).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2: Decide on Metrics</a:t>
            </a:r>
          </a:p>
        </p:txBody>
      </p:sp>
      <p:sp>
        <p:nvSpPr>
          <p:cNvPr id="3" name="Content Placeholder 2"/>
          <p:cNvSpPr>
            <a:spLocks noGrp="1"/>
          </p:cNvSpPr>
          <p:nvPr>
            <p:ph idx="1"/>
          </p:nvPr>
        </p:nvSpPr>
        <p:spPr/>
        <p:txBody>
          <a:bodyPr/>
          <a:lstStyle/>
          <a:p>
            <a:pPr lvl="0" indent="0" marL="0">
              <a:buNone/>
            </a:pPr>
            <a:r>
              <a:rPr b="1"/>
              <a:t>Responsible</a:t>
            </a:r>
            <a:r>
              <a:rPr/>
              <a:t>: Engineering (with Product Owner validation)</a:t>
            </a:r>
          </a:p>
          <a:p>
            <a:pPr lvl="0" indent="0" marL="0">
              <a:buNone/>
            </a:pPr>
            <a:r>
              <a:rPr/>
              <a:t>Engineering translates qualitative rubric into quantitative metrics (e.g., “Trustworthy” → “Factual Consistency Score”). Product Owner validates that technical metrics are acceptable proxies for business goals.</a:t>
            </a:r>
          </a:p>
          <a:p>
            <a:pPr lvl="0" indent="0" marL="0">
              <a:buNone/>
            </a:pPr>
            <a:r>
              <a:rPr b="1"/>
              <a:t>Terminology</a:t>
            </a:r>
            <a:r>
              <a:rPr/>
              <a:t>: Rubric item → Metric → Scorer → Score</a:t>
            </a:r>
            <a:br/>
            <a:r>
              <a:rPr i="1"/>
              <a:t>Example</a:t>
            </a:r>
            <a:r>
              <a:rPr/>
              <a:t>: “helpful” → “answer relevance” → “LLM-as-judge” → “4 out of 5”</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2: Scorer Categories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549400"/>
                <a:gridCol w="1549400"/>
                <a:gridCol w="1092200"/>
                <a:gridCol w="1549400"/>
                <a:gridCol w="927100"/>
                <a:gridCol w="1549400"/>
              </a:tblGrid>
              <a:tr h="0">
                <a:tc>
                  <a:txBody>
                    <a:bodyPr/>
                    <a:lstStyle/>
                    <a:p>
                      <a:pPr lvl="0" indent="0" marL="0">
                        <a:buNone/>
                      </a:pPr>
                      <a:r>
                        <a:rPr/>
                        <a:t>Category</a:t>
                      </a:r>
                    </a:p>
                  </a:txBody>
                  <a:tcPr/>
                </a:tc>
                <a:tc>
                  <a:txBody>
                    <a:bodyPr/>
                    <a:lstStyle/>
                    <a:p>
                      <a:pPr lvl="0" indent="0" marL="0">
                        <a:buNone/>
                      </a:pPr>
                      <a:r>
                        <a:rPr/>
                        <a:t>Examples</a:t>
                      </a:r>
                    </a:p>
                  </a:txBody>
                  <a:tcPr/>
                </a:tc>
                <a:tc>
                  <a:txBody>
                    <a:bodyPr/>
                    <a:lstStyle/>
                    <a:p>
                      <a:pPr lvl="0" indent="0" marL="0">
                        <a:buNone/>
                      </a:pPr>
                      <a:r>
                        <a:rPr/>
                        <a:t>Speed</a:t>
                      </a:r>
                    </a:p>
                  </a:txBody>
                  <a:tcPr/>
                </a:tc>
                <a:tc>
                  <a:txBody>
                    <a:bodyPr/>
                    <a:lstStyle/>
                    <a:p>
                      <a:pPr lvl="0" indent="0" marL="0">
                        <a:buNone/>
                      </a:pPr>
                      <a:r>
                        <a:rPr/>
                        <a:t>Accuracy</a:t>
                      </a:r>
                    </a:p>
                  </a:txBody>
                  <a:tcPr/>
                </a:tc>
                <a:tc>
                  <a:txBody>
                    <a:bodyPr/>
                    <a:lstStyle/>
                    <a:p>
                      <a:pPr lvl="0" indent="0" marL="0">
                        <a:buNone/>
                      </a:pPr>
                      <a:r>
                        <a:rPr/>
                        <a:t>Cost</a:t>
                      </a:r>
                    </a:p>
                  </a:txBody>
                  <a:tcPr/>
                </a:tc>
                <a:tc>
                  <a:txBody>
                    <a:bodyPr/>
                    <a:lstStyle/>
                    <a:p>
                      <a:pPr lvl="0" indent="0" marL="0">
                        <a:buNone/>
                      </a:pPr>
                      <a:r>
                        <a:rPr/>
                        <a:t>Best For</a:t>
                      </a:r>
                    </a:p>
                  </a:txBody>
                  <a:tcPr/>
                </a:tc>
              </a:tr>
              <a:tr h="0">
                <a:tc>
                  <a:txBody>
                    <a:bodyPr/>
                    <a:lstStyle/>
                    <a:p>
                      <a:pPr lvl="0" indent="0" marL="0">
                        <a:buNone/>
                      </a:pPr>
                      <a:r>
                        <a:rPr b="1"/>
                        <a:t>Statistical</a:t>
                      </a:r>
                    </a:p>
                  </a:txBody>
                </a:tc>
                <a:tc>
                  <a:txBody>
                    <a:bodyPr/>
                    <a:lstStyle/>
                    <a:p>
                      <a:pPr lvl="0" indent="0" marL="0">
                        <a:buNone/>
                      </a:pPr>
                      <a:r>
                        <a:rPr/>
                        <a:t>BLEU, ROUGE, METEOR</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Specific tasks</a:t>
                      </a:r>
                    </a:p>
                  </a:txBody>
                </a:tc>
              </a:tr>
              <a:tr h="0">
                <a:tc>
                  <a:txBody>
                    <a:bodyPr/>
                    <a:lstStyle/>
                    <a:p>
                      <a:pPr lvl="0" indent="0" marL="0">
                        <a:buNone/>
                      </a:pPr>
                      <a:r>
                        <a:rPr b="1"/>
                        <a:t>Model-based</a:t>
                      </a:r>
                    </a:p>
                  </a:txBody>
                </a:tc>
                <a:tc>
                  <a:txBody>
                    <a:bodyPr/>
                    <a:lstStyle/>
                    <a:p>
                      <a:pPr lvl="0" indent="0" marL="0">
                        <a:buNone/>
                      </a:pPr>
                      <a:r>
                        <a:rPr/>
                        <a:t>BLEURT, COMET, AlignScore</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Domain-specific tasks</a:t>
                      </a:r>
                    </a:p>
                  </a:txBody>
                </a:tc>
              </a:tr>
              <a:tr h="0">
                <a:tc>
                  <a:txBody>
                    <a:bodyPr/>
                    <a:lstStyle/>
                    <a:p>
                      <a:pPr lvl="0" indent="0" marL="0">
                        <a:buNone/>
                      </a:pPr>
                      <a:r>
                        <a:rPr b="1"/>
                        <a:t>LLM-as-judge</a:t>
                      </a:r>
                    </a:p>
                  </a:txBody>
                </a:tc>
                <a:tc>
                  <a:txBody>
                    <a:bodyPr/>
                    <a:lstStyle/>
                    <a:p>
                      <a:pPr lvl="0" indent="0" marL="0">
                        <a:buNone/>
                      </a:pPr>
                      <a:r>
                        <a:rPr/>
                        <a:t>G-Eval, RARR</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Flexible evaluation</a:t>
                      </a:r>
                    </a:p>
                  </a:txBody>
                </a:tc>
              </a:tr>
              <a:tr h="0">
                <a:tc>
                  <a:txBody>
                    <a:bodyPr/>
                    <a:lstStyle/>
                    <a:p>
                      <a:pPr lvl="0" indent="0" marL="0">
                        <a:buNone/>
                      </a:pPr>
                      <a:r>
                        <a:rPr b="1"/>
                        <a:t>Human evaluation</a:t>
                      </a:r>
                    </a:p>
                  </a:txBody>
                </a:tc>
                <a:tc>
                  <a:txBody>
                    <a:bodyPr/>
                    <a:lstStyle/>
                    <a:p>
                      <a:pPr lvl="0" indent="0" marL="0">
                        <a:buNone/>
                      </a:pPr>
                      <a:r>
                        <a:rPr/>
                        <a:t>Manual rating</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Calibration &amp; QA</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Ideal</a:t>
            </a:r>
            <a:r>
              <a:rPr/>
              <a:t>: Combination of methods. Human evaluation’s primary role: create “answer key” to calibrate automated scorers and final QA.</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3: Develop Golden Dataset</a:t>
            </a:r>
          </a:p>
        </p:txBody>
      </p:sp>
      <p:sp>
        <p:nvSpPr>
          <p:cNvPr id="3" name="Content Placeholder 2"/>
          <p:cNvSpPr>
            <a:spLocks noGrp="1"/>
          </p:cNvSpPr>
          <p:nvPr>
            <p:ph idx="1"/>
          </p:nvPr>
        </p:nvSpPr>
        <p:spPr/>
        <p:txBody>
          <a:bodyPr/>
          <a:lstStyle/>
          <a:p>
            <a:pPr lvl="0" indent="0" marL="0">
              <a:buNone/>
            </a:pPr>
            <a:r>
              <a:rPr b="1"/>
              <a:t>Responsible</a:t>
            </a:r>
            <a:r>
              <a:rPr/>
              <a:t>: Product Owner (with Domain Experts and Engineering support)</a:t>
            </a:r>
          </a:p>
          <a:p>
            <a:pPr lvl="0" indent="0" marL="0">
              <a:buNone/>
            </a:pPr>
            <a:r>
              <a:rPr/>
              <a:t>Product Owner ensures quality, scope, and representativeness. Domain Experts author ideal answers. Engineering provides technical support.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3: Dataset Sources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349500"/>
                <a:gridCol w="3822700"/>
                <a:gridCol w="2057400"/>
              </a:tblGrid>
              <a:tr h="0">
                <a:tc>
                  <a:txBody>
                    <a:bodyPr/>
                    <a:lstStyle/>
                    <a:p>
                      <a:pPr lvl="0" indent="0" marL="0">
                        <a:buNone/>
                      </a:pPr>
                      <a:r>
                        <a:rPr/>
                        <a:t>Source</a:t>
                      </a:r>
                    </a:p>
                  </a:txBody>
                  <a:tcPr/>
                </a:tc>
                <a:tc>
                  <a:txBody>
                    <a:bodyPr/>
                    <a:lstStyle/>
                    <a:p>
                      <a:pPr lvl="0" indent="0" marL="0">
                        <a:buNone/>
                      </a:pPr>
                      <a:r>
                        <a:rPr/>
                        <a:t>When to Use</a:t>
                      </a:r>
                    </a:p>
                  </a:txBody>
                  <a:tcPr/>
                </a:tc>
                <a:tc>
                  <a:txBody>
                    <a:bodyPr/>
                    <a:lstStyle/>
                    <a:p>
                      <a:pPr lvl="0" indent="0" marL="0">
                        <a:buNone/>
                      </a:pPr>
                      <a:r>
                        <a:rPr/>
                        <a:t>Notes</a:t>
                      </a:r>
                    </a:p>
                  </a:txBody>
                  <a:tcPr/>
                </a:tc>
              </a:tr>
              <a:tr h="0">
                <a:tc>
                  <a:txBody>
                    <a:bodyPr/>
                    <a:lstStyle/>
                    <a:p>
                      <a:pPr lvl="0" indent="0" marL="0">
                        <a:buNone/>
                      </a:pPr>
                      <a:r>
                        <a:rPr b="1"/>
                        <a:t>Past transaction data</a:t>
                      </a:r>
                    </a:p>
                  </a:txBody>
                </a:tc>
                <a:tc>
                  <a:txBody>
                    <a:bodyPr/>
                    <a:lstStyle/>
                    <a:p>
                      <a:pPr lvl="0" indent="0" marL="0">
                        <a:buNone/>
                      </a:pPr>
                      <a:r>
                        <a:rPr/>
                        <a:t>Adding AI to existing application</a:t>
                      </a:r>
                    </a:p>
                  </a:txBody>
                </a:tc>
                <a:tc>
                  <a:txBody>
                    <a:bodyPr/>
                    <a:lstStyle/>
                    <a:p>
                      <a:pPr lvl="0" indent="0" marL="0">
                        <a:buNone/>
                      </a:pPr>
                      <a:r>
                        <a:rPr/>
                        <a:t>Extract question-answer pairs from human-answered queries</a:t>
                      </a:r>
                    </a:p>
                  </a:txBody>
                </a:tc>
              </a:tr>
              <a:tr h="0">
                <a:tc>
                  <a:txBody>
                    <a:bodyPr/>
                    <a:lstStyle/>
                    <a:p>
                      <a:pPr lvl="0" indent="0" marL="0">
                        <a:buNone/>
                      </a:pPr>
                      <a:r>
                        <a:rPr b="1"/>
                        <a:t>Human-annotated data</a:t>
                      </a:r>
                    </a:p>
                  </a:txBody>
                </a:tc>
                <a:tc>
                  <a:txBody>
                    <a:bodyPr/>
                    <a:lstStyle/>
                    <a:p>
                      <a:pPr lvl="0" indent="0" marL="0">
                        <a:buNone/>
                      </a:pPr>
                      <a:r>
                        <a:rPr/>
                        <a:t>Building new AI offering</a:t>
                      </a:r>
                    </a:p>
                  </a:txBody>
                </a:tc>
                <a:tc>
                  <a:txBody>
                    <a:bodyPr/>
                    <a:lstStyle/>
                    <a:p>
                      <a:pPr lvl="0" indent="0" marL="0">
                        <a:buNone/>
                      </a:pPr>
                      <a:r>
                        <a:rPr/>
                        <a:t>Generate questions + expert answers. </a:t>
                      </a:r>
                      <a:r>
                        <a:rPr b="1"/>
                        <a:t>Warning</a:t>
                      </a:r>
                      <a:r>
                        <a:rPr/>
                        <a:t>: Don’t use LLM to generate answers for experts to verify - correcting is harder than creating</a:t>
                      </a:r>
                    </a:p>
                  </a:txBody>
                </a:tc>
              </a:tr>
              <a:tr h="0">
                <a:tc>
                  <a:txBody>
                    <a:bodyPr/>
                    <a:lstStyle/>
                    <a:p>
                      <a:pPr lvl="0" indent="0" marL="0">
                        <a:buNone/>
                      </a:pPr>
                      <a:r>
                        <a:rPr b="1"/>
                        <a:t>Customize public datasets</a:t>
                      </a:r>
                    </a:p>
                  </a:txBody>
                </a:tc>
                <a:tc>
                  <a:txBody>
                    <a:bodyPr/>
                    <a:lstStyle/>
                    <a:p>
                      <a:pPr lvl="0" indent="0" marL="0">
                        <a:buNone/>
                      </a:pPr>
                      <a:r>
                        <a:rPr/>
                        <a:t>High-quality public dataset exists</a:t>
                      </a:r>
                    </a:p>
                  </a:txBody>
                </a:tc>
                <a:tc>
                  <a:txBody>
                    <a:bodyPr/>
                    <a:lstStyle/>
                    <a:p>
                      <a:pPr lvl="0" indent="0" marL="0">
                        <a:buNone/>
                      </a:pPr>
                      <a:r>
                        <a:rPr/>
                        <a:t>Subset and augment to match your context</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3: Good Dataset Characteristics</a:t>
            </a:r>
          </a:p>
        </p:txBody>
      </p:sp>
      <p:sp>
        <p:nvSpPr>
          <p:cNvPr id="3" name="Content Placeholder 2"/>
          <p:cNvSpPr>
            <a:spLocks noGrp="1"/>
          </p:cNvSpPr>
          <p:nvPr>
            <p:ph idx="1"/>
          </p:nvPr>
        </p:nvSpPr>
        <p:spPr/>
        <p:txBody>
          <a:bodyPr/>
          <a:lstStyle/>
          <a:p>
            <a:pPr lvl="0" indent="0" marL="0">
              <a:buNone/>
            </a:pPr>
            <a:r>
              <a:rPr/>
              <a:t>A good dataset should cover:</a:t>
            </a:r>
          </a:p>
          <a:p>
            <a:pPr lvl="0"/>
            <a:r>
              <a:rPr b="1"/>
              <a:t>Types of questions</a:t>
            </a:r>
            <a:r>
              <a:rPr/>
              <a:t>: Not just what, but also how (tone, language, code-switching, informality, spelling errors, verbosity)</a:t>
            </a:r>
          </a:p>
          <a:p>
            <a:pPr lvl="0"/>
            <a:r>
              <a:rPr b="1"/>
              <a:t>Out-of-context requests</a:t>
            </a:r>
            <a:r>
              <a:rPr/>
              <a:t>: Questions your application doesn’t support</a:t>
            </a:r>
          </a:p>
          <a:p>
            <a:pPr lvl="0"/>
            <a:r>
              <a:rPr b="1"/>
              <a:t>Adversarial requests</a:t>
            </a:r>
            <a:r>
              <a:rPr/>
              <a:t>: Abusive input, prompt injection, jailbreaking, data &amp; privacy attacks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4: Running Automated Evals</a:t>
            </a:r>
          </a:p>
        </p:txBody>
      </p:sp>
      <p:sp>
        <p:nvSpPr>
          <p:cNvPr id="3" name="Content Placeholder 2"/>
          <p:cNvSpPr>
            <a:spLocks noGrp="1"/>
          </p:cNvSpPr>
          <p:nvPr>
            <p:ph idx="1"/>
          </p:nvPr>
        </p:nvSpPr>
        <p:spPr/>
        <p:txBody>
          <a:bodyPr/>
          <a:lstStyle/>
          <a:p>
            <a:pPr lvl="0" indent="0" marL="0">
              <a:buNone/>
            </a:pPr>
            <a:r>
              <a:rPr b="1"/>
              <a:t>Responsible</a:t>
            </a:r>
            <a:r>
              <a:rPr/>
              <a:t>: Engineering (with Product Owner support)</a:t>
            </a:r>
          </a:p>
          <a:p>
            <a:pPr lvl="0" indent="0" marL="0">
              <a:buNone/>
            </a:pPr>
            <a:r>
              <a:rPr/>
              <a:t>Automate evaluations and integrate into CI/CD pipeline. Product Owner monitors performance trends over time.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4: Evaluation Frequency Strategy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387600"/>
                <a:gridCol w="2171700"/>
                <a:gridCol w="2387600"/>
                <a:gridCol w="1295400"/>
              </a:tblGrid>
              <a:tr h="0">
                <a:tc>
                  <a:txBody>
                    <a:bodyPr/>
                    <a:lstStyle/>
                    <a:p>
                      <a:pPr lvl="0" indent="0" marL="0">
                        <a:buNone/>
                      </a:pPr>
                      <a:r>
                        <a:rPr/>
                        <a:t>Eval Type</a:t>
                      </a:r>
                    </a:p>
                  </a:txBody>
                  <a:tcPr/>
                </a:tc>
                <a:tc>
                  <a:txBody>
                    <a:bodyPr/>
                    <a:lstStyle/>
                    <a:p>
                      <a:pPr lvl="0" indent="0" marL="0">
                        <a:buNone/>
                      </a:pPr>
                      <a:r>
                        <a:rPr/>
                        <a:t>Examples</a:t>
                      </a:r>
                    </a:p>
                  </a:txBody>
                  <a:tcPr/>
                </a:tc>
                <a:tc>
                  <a:txBody>
                    <a:bodyPr/>
                    <a:lstStyle/>
                    <a:p>
                      <a:pPr lvl="0" indent="0" marL="0">
                        <a:buNone/>
                      </a:pPr>
                      <a:r>
                        <a:rPr/>
                        <a:t>Frequency</a:t>
                      </a:r>
                    </a:p>
                  </a:txBody>
                  <a:tcPr/>
                </a:tc>
                <a:tc>
                  <a:txBody>
                    <a:bodyPr/>
                    <a:lstStyle/>
                    <a:p>
                      <a:pPr lvl="0" indent="0" marL="0">
                        <a:buNone/>
                      </a:pPr>
                      <a:r>
                        <a:rPr/>
                        <a:t>When</a:t>
                      </a:r>
                    </a:p>
                  </a:txBody>
                  <a:tcPr/>
                </a:tc>
              </a:tr>
              <a:tr h="0">
                <a:tc>
                  <a:txBody>
                    <a:bodyPr/>
                    <a:lstStyle/>
                    <a:p>
                      <a:pPr lvl="0" indent="0" marL="0">
                        <a:buNone/>
                      </a:pPr>
                      <a:r>
                        <a:rPr b="1"/>
                        <a:t>Low-Cost</a:t>
                      </a:r>
                    </a:p>
                  </a:txBody>
                </a:tc>
                <a:tc>
                  <a:txBody>
                    <a:bodyPr/>
                    <a:lstStyle/>
                    <a:p>
                      <a:pPr lvl="0" indent="0" marL="0">
                        <a:buNone/>
                      </a:pPr>
                      <a:r>
                        <a:rPr/>
                        <a:t>Statistical scorers (ROUGE), model-based</a:t>
                      </a:r>
                    </a:p>
                  </a:txBody>
                </a:tc>
                <a:tc>
                  <a:txBody>
                    <a:bodyPr/>
                    <a:lstStyle/>
                    <a:p>
                      <a:pPr lvl="0" indent="0" marL="0">
                        <a:buNone/>
                      </a:pPr>
                      <a:r>
                        <a:rPr/>
                        <a:t>Every commit</a:t>
                      </a:r>
                    </a:p>
                  </a:txBody>
                </a:tc>
                <a:tc>
                  <a:txBody>
                    <a:bodyPr/>
                    <a:lstStyle/>
                    <a:p>
                      <a:pPr lvl="0" indent="0" marL="0">
                        <a:buNone/>
                      </a:pPr>
                      <a:r>
                        <a:rPr/>
                        <a:t>Fast feedback, limited scope</a:t>
                      </a:r>
                    </a:p>
                  </a:txBody>
                </a:tc>
              </a:tr>
              <a:tr h="0">
                <a:tc>
                  <a:txBody>
                    <a:bodyPr/>
                    <a:lstStyle/>
                    <a:p>
                      <a:pPr lvl="0" indent="0" marL="0">
                        <a:buNone/>
                      </a:pPr>
                      <a:r>
                        <a:rPr b="1"/>
                        <a:t>High-Cost</a:t>
                      </a:r>
                    </a:p>
                  </a:txBody>
                </a:tc>
                <a:tc>
                  <a:txBody>
                    <a:bodyPr/>
                    <a:lstStyle/>
                    <a:p>
                      <a:pPr lvl="0" indent="0" marL="0">
                        <a:buNone/>
                      </a:pPr>
                      <a:r>
                        <a:rPr/>
                        <a:t>LLM-as-judge scorers</a:t>
                      </a:r>
                    </a:p>
                  </a:txBody>
                </a:tc>
                <a:tc>
                  <a:txBody>
                    <a:bodyPr/>
                    <a:lstStyle/>
                    <a:p>
                      <a:pPr lvl="0" indent="0" marL="0">
                        <a:buNone/>
                      </a:pPr>
                      <a:r>
                        <a:rPr/>
                        <a:t>Nightly/weekly/before release</a:t>
                      </a:r>
                    </a:p>
                  </a:txBody>
                </a:tc>
                <a:tc>
                  <a:txBody>
                    <a:bodyPr/>
                    <a:lstStyle/>
                    <a:p>
                      <a:pPr lvl="0" indent="0" marL="0">
                        <a:buNone/>
                      </a:pPr>
                      <a:r>
                        <a:rPr/>
                        <a:t>Comprehensive but expensive</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Tracking</a:t>
            </a:r>
            <a:r>
              <a:rPr/>
              <a:t>: Use observability tools (Logfire, Helicone, Langfuse) to plot metric scores over time. Dashboard helps track progress against rubric goals.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5: Measure Scores and Refine</a:t>
            </a:r>
          </a:p>
        </p:txBody>
      </p:sp>
      <p:sp>
        <p:nvSpPr>
          <p:cNvPr id="3" name="Content Placeholder 2"/>
          <p:cNvSpPr>
            <a:spLocks noGrp="1"/>
          </p:cNvSpPr>
          <p:nvPr>
            <p:ph idx="1"/>
          </p:nvPr>
        </p:nvSpPr>
        <p:spPr/>
        <p:txBody>
          <a:bodyPr/>
          <a:lstStyle/>
          <a:p>
            <a:pPr lvl="0" indent="0" marL="0">
              <a:buNone/>
            </a:pPr>
            <a:r>
              <a:rPr b="1"/>
              <a:t>Responsible</a:t>
            </a:r>
            <a:r>
              <a:rPr/>
              <a:t>: Engineering (with Product Owner support)</a:t>
            </a:r>
          </a:p>
          <a:p>
            <a:pPr lvl="0" indent="0" marL="0">
              <a:buNone/>
            </a:pPr>
            <a:r>
              <a:rPr/>
              <a:t>Initial scores will reveal areas for improvement. Results are a diagnostic tool, not a final grade. Engineering analyzes results and diagnoses root causes. Product Owner prioritizes refinement work.</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5: Refinement Process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146300"/>
                <a:gridCol w="2857500"/>
                <a:gridCol w="3225800"/>
              </a:tblGrid>
              <a:tr h="0">
                <a:tc>
                  <a:txBody>
                    <a:bodyPr/>
                    <a:lstStyle/>
                    <a:p>
                      <a:pPr lvl="0" indent="0" marL="0">
                        <a:buNone/>
                      </a:pPr>
                      <a:r>
                        <a:rPr/>
                        <a:t>Step</a:t>
                      </a:r>
                    </a:p>
                  </a:txBody>
                  <a:tcPr/>
                </a:tc>
                <a:tc>
                  <a:txBody>
                    <a:bodyPr/>
                    <a:lstStyle/>
                    <a:p>
                      <a:pPr lvl="0" indent="0" marL="0">
                        <a:buNone/>
                      </a:pPr>
                      <a:r>
                        <a:rPr/>
                        <a:t>Action</a:t>
                      </a:r>
                    </a:p>
                  </a:txBody>
                  <a:tcPr/>
                </a:tc>
                <a:tc>
                  <a:txBody>
                    <a:bodyPr/>
                    <a:lstStyle/>
                    <a:p>
                      <a:pPr lvl="0" indent="0" marL="0">
                        <a:buNone/>
                      </a:pPr>
                      <a:r>
                        <a:rPr/>
                        <a:t>Purpose</a:t>
                      </a:r>
                    </a:p>
                  </a:txBody>
                  <a:tcPr/>
                </a:tc>
              </a:tr>
              <a:tr h="0">
                <a:tc>
                  <a:txBody>
                    <a:bodyPr/>
                    <a:lstStyle/>
                    <a:p>
                      <a:pPr lvl="0" indent="0" marL="0">
                        <a:buNone/>
                      </a:pPr>
                      <a:r>
                        <a:rPr b="1"/>
                        <a:t>1. Isolate Problem</a:t>
                      </a:r>
                    </a:p>
                  </a:txBody>
                </a:tc>
                <a:tc>
                  <a:txBody>
                    <a:bodyPr/>
                    <a:lstStyle/>
                    <a:p>
                      <a:pPr lvl="0" indent="0" marL="0">
                        <a:buNone/>
                      </a:pPr>
                      <a:r>
                        <a:rPr/>
                        <a:t>Identify which component is failing</a:t>
                      </a:r>
                    </a:p>
                  </a:txBody>
                </a:tc>
                <a:tc>
                  <a:txBody>
                    <a:bodyPr/>
                    <a:lstStyle/>
                    <a:p>
                      <a:pPr lvl="0" indent="0" marL="0">
                        <a:buNone/>
                      </a:pPr>
                      <a:r>
                        <a:rPr/>
                        <a:t>Modern AI has many components (retrieval, prompting, model params)</a:t>
                      </a:r>
                    </a:p>
                  </a:txBody>
                </a:tc>
              </a:tr>
              <a:tr h="0">
                <a:tc>
                  <a:txBody>
                    <a:bodyPr/>
                    <a:lstStyle/>
                    <a:p>
                      <a:pPr lvl="0" indent="0" marL="0">
                        <a:buNone/>
                      </a:pPr>
                      <a:r>
                        <a:rPr b="1"/>
                        <a:t>2. Use Traces</a:t>
                      </a:r>
                    </a:p>
                  </a:txBody>
                </a:tc>
                <a:tc>
                  <a:txBody>
                    <a:bodyPr/>
                    <a:lstStyle/>
                    <a:p>
                      <a:pPr lvl="0" indent="0" marL="0">
                        <a:buNone/>
                      </a:pPr>
                      <a:r>
                        <a:rPr/>
                        <a:t>Inspect inputs/outputs of each component</a:t>
                      </a:r>
                    </a:p>
                  </a:txBody>
                </a:tc>
                <a:tc>
                  <a:txBody>
                    <a:bodyPr/>
                    <a:lstStyle/>
                    <a:p>
                      <a:pPr lvl="0" indent="0" marL="0">
                        <a:buNone/>
                      </a:pPr>
                      <a:r>
                        <a:rPr/>
                        <a:t>Pinpoint root cause (e.g., ineffective retrieval, poor prompt)</a:t>
                      </a:r>
                    </a:p>
                  </a:txBody>
                </a:tc>
              </a:tr>
              <a:tr h="0">
                <a:tc>
                  <a:txBody>
                    <a:bodyPr/>
                    <a:lstStyle/>
                    <a:p>
                      <a:pPr lvl="0" indent="0" marL="0">
                        <a:buNone/>
                      </a:pPr>
                      <a:r>
                        <a:rPr b="1"/>
                        <a:t>3. Unit Tests</a:t>
                      </a:r>
                    </a:p>
                  </a:txBody>
                </a:tc>
                <a:tc>
                  <a:txBody>
                    <a:bodyPr/>
                    <a:lstStyle/>
                    <a:p>
                      <a:pPr lvl="0" indent="0" marL="0">
                        <a:buNone/>
                      </a:pPr>
                      <a:r>
                        <a:rPr/>
                        <a:t>Implement component-level tests</a:t>
                      </a:r>
                    </a:p>
                  </a:txBody>
                </a:tc>
                <a:tc>
                  <a:txBody>
                    <a:bodyPr/>
                    <a:lstStyle/>
                    <a:p>
                      <a:pPr lvl="0" indent="0" marL="0">
                        <a:buNone/>
                      </a:pPr>
                      <a:r>
                        <a:rPr/>
                        <a:t>Validate specific logic, catch regressions early</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Goal</a:t>
            </a:r>
            <a:r>
              <a:rPr/>
              <a:t>: Turn evaluation into a process that helps teams ask better questions and improve iteratively.</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6: Red-Teaming</a:t>
            </a:r>
          </a:p>
        </p:txBody>
      </p:sp>
      <p:sp>
        <p:nvSpPr>
          <p:cNvPr id="3" name="Content Placeholder 2"/>
          <p:cNvSpPr>
            <a:spLocks noGrp="1"/>
          </p:cNvSpPr>
          <p:nvPr>
            <p:ph idx="1"/>
          </p:nvPr>
        </p:nvSpPr>
        <p:spPr/>
        <p:txBody>
          <a:bodyPr/>
          <a:lstStyle/>
          <a:p>
            <a:pPr lvl="0" indent="0" marL="0">
              <a:buNone/>
            </a:pPr>
            <a:r>
              <a:rPr b="1"/>
              <a:t>Responsible</a:t>
            </a:r>
            <a:r>
              <a:rPr/>
              <a:t>: Product Owner (with Engineering, QA, or Security/Ethics Team support)</a:t>
            </a:r>
          </a:p>
          <a:p>
            <a:pPr lvl="0" indent="0" marL="0">
              <a:buNone/>
            </a:pPr>
            <a:r>
              <a:rPr/>
              <a:t>Product Owner ensures red-teaming is conducted and prioritizes remediation. Technical teams execute adversarial testing.</a:t>
            </a:r>
          </a:p>
          <a:p>
            <a:pPr lvl="0" indent="0" marL="0">
              <a:buNone/>
            </a:pPr>
            <a:r>
              <a:rPr b="1"/>
              <a:t>What is red-teaming?</a:t>
            </a:r>
            <a:r>
              <a:rPr/>
              <a:t> Structured adversarial testing to proactively discover vulnerabilities, biases, and failure modes before users do. Think like a malicious actor, confused user, or edge-case generator.</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6: When is Red-Teaming Critical?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429000"/>
                <a:gridCol w="4800600"/>
              </a:tblGrid>
              <a:tr h="0">
                <a:tc>
                  <a:txBody>
                    <a:bodyPr/>
                    <a:lstStyle/>
                    <a:p>
                      <a:pPr lvl="0" indent="0" marL="0">
                        <a:buNone/>
                      </a:pPr>
                      <a:r>
                        <a:rPr/>
                        <a:t>Scenario</a:t>
                      </a:r>
                    </a:p>
                  </a:txBody>
                  <a:tcPr/>
                </a:tc>
                <a:tc>
                  <a:txBody>
                    <a:bodyPr/>
                    <a:lstStyle/>
                    <a:p>
                      <a:pPr lvl="0" indent="0" marL="0">
                        <a:buNone/>
                      </a:pPr>
                      <a:r>
                        <a:rPr/>
                        <a:t>Why Critical</a:t>
                      </a:r>
                    </a:p>
                  </a:txBody>
                  <a:tcPr/>
                </a:tc>
              </a:tr>
              <a:tr h="0">
                <a:tc>
                  <a:txBody>
                    <a:bodyPr/>
                    <a:lstStyle/>
                    <a:p>
                      <a:pPr lvl="0" indent="0" marL="0">
                        <a:buNone/>
                      </a:pPr>
                      <a:r>
                        <a:rPr b="1"/>
                        <a:t>Agentic/Flexible Solutions</a:t>
                      </a:r>
                    </a:p>
                  </a:txBody>
                </a:tc>
                <a:tc>
                  <a:txBody>
                    <a:bodyPr/>
                    <a:lstStyle/>
                    <a:p>
                      <a:pPr lvl="0" indent="0" marL="0">
                        <a:buNone/>
                      </a:pPr>
                      <a:r>
                        <a:rPr/>
                        <a:t>More pathways for failure (web browsing, code execution, multi-step decisions)</a:t>
                      </a:r>
                    </a:p>
                  </a:txBody>
                </a:tc>
              </a:tr>
              <a:tr h="0">
                <a:tc>
                  <a:txBody>
                    <a:bodyPr/>
                    <a:lstStyle/>
                    <a:p>
                      <a:pPr lvl="0" indent="0" marL="0">
                        <a:buNone/>
                      </a:pPr>
                      <a:r>
                        <a:rPr b="1"/>
                        <a:t>Long Conversation Histories</a:t>
                      </a:r>
                    </a:p>
                  </a:txBody>
                </a:tc>
                <a:tc>
                  <a:txBody>
                    <a:bodyPr/>
                    <a:lstStyle/>
                    <a:p>
                      <a:pPr lvl="0" indent="0" marL="0">
                        <a:buNone/>
                      </a:pPr>
                      <a:r>
                        <a:rPr/>
                        <a:t>Cumulative errors - small issue in turn 1 amplified by turn 10</a:t>
                      </a:r>
                    </a:p>
                  </a:txBody>
                </a:tc>
              </a:tr>
              <a:tr h="0">
                <a:tc>
                  <a:txBody>
                    <a:bodyPr/>
                    <a:lstStyle/>
                    <a:p>
                      <a:pPr lvl="0" indent="0" marL="0">
                        <a:buNone/>
                      </a:pPr>
                      <a:r>
                        <a:rPr b="1"/>
                        <a:t>High-Risk Domains</a:t>
                      </a:r>
                    </a:p>
                  </a:txBody>
                </a:tc>
                <a:tc>
                  <a:txBody>
                    <a:bodyPr/>
                    <a:lstStyle/>
                    <a:p>
                      <a:pPr lvl="0" indent="0" marL="0">
                        <a:buNone/>
                      </a:pPr>
                      <a:r>
                        <a:rPr/>
                        <a:t>Maternal health, medical advice, financial planning - severe impact of failure</a:t>
                      </a:r>
                    </a:p>
                  </a:txBody>
                </a:tc>
              </a:tr>
              <a:tr h="0">
                <a:tc>
                  <a:txBody>
                    <a:bodyPr/>
                    <a:lstStyle/>
                    <a:p>
                      <a:pPr lvl="0" indent="0" marL="0">
                        <a:buNone/>
                      </a:pPr>
                      <a:r>
                        <a:rPr b="1"/>
                        <a:t>Population-Scale</a:t>
                      </a:r>
                    </a:p>
                  </a:txBody>
                </a:tc>
                <a:tc>
                  <a:txBody>
                    <a:bodyPr/>
                    <a:lstStyle/>
                    <a:p>
                      <a:pPr lvl="0" indent="0" marL="0">
                        <a:buNone/>
                      </a:pPr>
                      <a:r>
                        <a:rPr/>
                        <a:t>Unknown interaction patterns; improbable behaviors will occur at scale</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6: Red-Teaming Process</a:t>
            </a:r>
          </a:p>
        </p:txBody>
      </p:sp>
      <p:sp>
        <p:nvSpPr>
          <p:cNvPr id="3" name="Content Placeholder 2"/>
          <p:cNvSpPr>
            <a:spLocks noGrp="1"/>
          </p:cNvSpPr>
          <p:nvPr>
            <p:ph idx="1"/>
          </p:nvPr>
        </p:nvSpPr>
        <p:spPr/>
        <p:txBody>
          <a:bodyPr/>
          <a:lstStyle/>
          <a:p>
            <a:pPr lvl="0" indent="0" marL="0">
              <a:buNone/>
            </a:pPr>
            <a:r>
              <a:rPr b="1"/>
              <a:t>Plan</a:t>
            </a:r>
            <a:r>
              <a:rPr/>
              <a:t> → </a:t>
            </a:r>
            <a:r>
              <a:rPr b="1"/>
              <a:t>Probe</a:t>
            </a:r>
            <a:r>
              <a:rPr/>
              <a:t> → </a:t>
            </a:r>
            <a:r>
              <a:rPr b="1"/>
              <a:t>Prioritize</a:t>
            </a:r>
          </a:p>
          <a:p>
            <a:pPr lvl="0" indent="-342900" marL="342900">
              <a:buAutoNum type="arabicPeriod"/>
            </a:pPr>
            <a:r>
              <a:rPr b="1"/>
              <a:t>Plan</a:t>
            </a:r>
            <a:r>
              <a:rPr/>
              <a:t>: Define goals, choose testers, decide where to test</a:t>
            </a:r>
          </a:p>
          <a:p>
            <a:pPr lvl="0" indent="-342900" marL="342900">
              <a:buAutoNum type="arabicPeriod"/>
            </a:pPr>
            <a:r>
              <a:rPr b="1"/>
              <a:t>Probe</a:t>
            </a:r>
            <a:r>
              <a:rPr/>
              <a:t>: Adopt adversarial mindset, try to confuse/exploit/stress-test, capture failures</a:t>
            </a:r>
          </a:p>
          <a:p>
            <a:pPr lvl="0" indent="-342900" marL="342900">
              <a:buAutoNum type="arabicPeriod"/>
            </a:pPr>
            <a:r>
              <a:rPr b="1"/>
              <a:t>Prioritize</a:t>
            </a:r>
            <a:r>
              <a:rPr/>
              <a:t>: Review by severity/likelihood, assign owners, rerun after fixes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Level 2: Product Evaluation</a:t>
            </a:r>
          </a:p>
        </p:txBody>
      </p:sp>
      <p:sp>
        <p:nvSpPr>
          <p:cNvPr id="3" name="Content Placeholder 2"/>
          <p:cNvSpPr>
            <a:spLocks noGrp="1"/>
          </p:cNvSpPr>
          <p:nvPr>
            <p:ph idx="1"/>
          </p:nvPr>
        </p:nvSpPr>
        <p:spPr/>
        <p:txBody>
          <a:bodyPr/>
          <a:lstStyle/>
          <a:p>
            <a:pPr lvl="0" indent="0" marL="0">
              <a:buNone/>
            </a:pPr>
            <a:r>
              <a:rPr b="1"/>
              <a:t>Question</a:t>
            </a:r>
            <a:r>
              <a:rPr/>
              <a:t>: Does the product facilitate meaningful interactions?</a:t>
            </a:r>
          </a:p>
          <a:p>
            <a:pPr lvl="0" indent="0" marL="0">
              <a:buNone/>
            </a:pPr>
            <a:r>
              <a:rPr b="1"/>
              <a:t>Why important</a:t>
            </a:r>
            <a:r>
              <a:rPr/>
              <a:t>: Beyond evaluating how the AI model performs against key metrics, organizations need to assess how well the product engages real users and whether it solves a meaningful problem for the user. It is unlikely that a product will shift development outcomes if it fails to engage its users. Like model evaluation, this type of evaluation is a continuous and iterative process, rather than one-off.</a:t>
            </a:r>
          </a:p>
          <a:p>
            <a:pPr lvl="0" indent="0" marL="0">
              <a:buNone/>
            </a:pPr>
            <a:r>
              <a:rPr/>
              <a:t>Technology companies frequently evaluate and improve products by collecting user interaction metrics and then running rapid cycles of digital experiments. For example, they may track a user’s journey on a website, automatically collecting records like which products users click on and whether they return to the site. Then, they can compare how different web or app experiences affect browsing time or user satisfaction.</a:t>
            </a:r>
          </a:p>
          <a:p>
            <a:pPr lvl="0" indent="0" marL="0">
              <a:buNone/>
            </a:pPr>
            <a:r>
              <a:rPr b="1"/>
              <a:t>Unique advantages of digital</a:t>
            </a:r>
            <a:r>
              <a:rPr/>
              <a:t>: This rapid, iterative process is enabled by two factors unique to digital interventions: (1) iterations of the product can be precisely and efficiently deployed to different users, and (2) on-platform engagement outcomes are costless to collect and transform into meaningful engagement metrics.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is Most Involved?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47900"/>
                <a:gridCol w="5981700"/>
              </a:tblGrid>
              <a:tr h="0">
                <a:tc>
                  <a:txBody>
                    <a:bodyPr/>
                    <a:lstStyle/>
                    <a:p>
                      <a:pPr lvl="0" indent="0" marL="0">
                        <a:buNone/>
                      </a:pPr>
                      <a:r>
                        <a:rPr/>
                        <a:t>Role</a:t>
                      </a:r>
                    </a:p>
                  </a:txBody>
                  <a:tcPr/>
                </a:tc>
                <a:tc>
                  <a:txBody>
                    <a:bodyPr/>
                    <a:lstStyle/>
                    <a:p>
                      <a:pPr lvl="0" indent="0" marL="0">
                        <a:buNone/>
                      </a:pPr>
                      <a:r>
                        <a:rPr/>
                        <a:t>Responsibility</a:t>
                      </a:r>
                    </a:p>
                  </a:txBody>
                  <a:tcPr/>
                </a:tc>
              </a:tr>
              <a:tr h="0">
                <a:tc>
                  <a:txBody>
                    <a:bodyPr/>
                    <a:lstStyle/>
                    <a:p>
                      <a:pPr lvl="0" indent="0" marL="0">
                        <a:buNone/>
                      </a:pPr>
                      <a:r>
                        <a:rPr b="1"/>
                        <a:t>Product Managers</a:t>
                      </a:r>
                    </a:p>
                  </a:txBody>
                </a:tc>
                <a:tc>
                  <a:txBody>
                    <a:bodyPr/>
                    <a:lstStyle/>
                    <a:p>
                      <a:pPr lvl="0" indent="0" marL="0">
                        <a:buNone/>
                      </a:pPr>
                      <a:r>
                        <a:rPr/>
                        <a:t>Execute - Directly responsible for product metrics</a:t>
                      </a:r>
                    </a:p>
                  </a:txBody>
                </a:tc>
              </a:tr>
              <a:tr h="0">
                <a:tc>
                  <a:txBody>
                    <a:bodyPr/>
                    <a:lstStyle/>
                    <a:p>
                      <a:pPr lvl="0" indent="0" marL="0">
                        <a:buNone/>
                      </a:pPr>
                      <a:r>
                        <a:rPr b="1"/>
                        <a:t>Data Scientists</a:t>
                      </a:r>
                    </a:p>
                  </a:txBody>
                </a:tc>
                <a:tc>
                  <a:txBody>
                    <a:bodyPr/>
                    <a:lstStyle/>
                    <a:p>
                      <a:pPr lvl="0" indent="0" marL="0">
                        <a:buNone/>
                      </a:pPr>
                      <a:r>
                        <a:rPr/>
                        <a:t>Support - Apply evaluation methods</a:t>
                      </a:r>
                    </a:p>
                  </a:txBody>
                </a:tc>
              </a:tr>
              <a:tr h="0">
                <a:tc>
                  <a:txBody>
                    <a:bodyPr/>
                    <a:lstStyle/>
                    <a:p>
                      <a:pPr lvl="0" indent="0" marL="0">
                        <a:buNone/>
                      </a:pPr>
                      <a:r>
                        <a:rPr b="1"/>
                        <a:t>Engineers</a:t>
                      </a:r>
                    </a:p>
                  </a:txBody>
                </a:tc>
                <a:tc>
                  <a:txBody>
                    <a:bodyPr/>
                    <a:lstStyle/>
                    <a:p>
                      <a:pPr lvl="0" indent="0" marL="0">
                        <a:buNone/>
                      </a:pPr>
                      <a:r>
                        <a:rPr/>
                        <a:t>Support - Build and roll out features</a:t>
                      </a:r>
                    </a:p>
                  </a:txBody>
                </a:tc>
              </a:tr>
            </a:tbl>
          </a:graphicData>
        </a:graphic>
      </p:graphicFrame>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Evaluation Methods</a:t>
            </a:r>
          </a:p>
        </p:txBody>
      </p:sp>
      <p:sp>
        <p:nvSpPr>
          <p:cNvPr id="3" name="Content Placeholder 2"/>
          <p:cNvSpPr>
            <a:spLocks noGrp="1"/>
          </p:cNvSpPr>
          <p:nvPr>
            <p:ph idx="1"/>
          </p:nvPr>
        </p:nvSpPr>
        <p:spPr/>
        <p:txBody>
          <a:bodyPr/>
          <a:lstStyle/>
          <a:p>
            <a:pPr lvl="0"/>
            <a:r>
              <a:rPr b="1"/>
              <a:t>A/B testing</a:t>
            </a:r>
            <a:r>
              <a:rPr/>
              <a:t>: Feature A vs. Feature B</a:t>
            </a:r>
          </a:p>
          <a:p>
            <a:pPr lvl="0"/>
            <a:r>
              <a:rPr b="1"/>
              <a:t>Multi-armed bandit</a:t>
            </a:r>
            <a:r>
              <a:rPr/>
              <a:t>: Performance-based adaptive allocations</a:t>
            </a:r>
          </a:p>
          <a:p>
            <a:pPr lvl="0"/>
            <a:r>
              <a:rPr b="1"/>
              <a:t>Holdout testing</a:t>
            </a:r>
            <a:r>
              <a:rPr/>
              <a:t>: AI vs. non-AI; status quo vs. accumulated improvements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Measurement Tools: Categories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489200"/>
                <a:gridCol w="3238500"/>
                <a:gridCol w="2489200"/>
              </a:tblGrid>
              <a:tr h="0">
                <a:tc>
                  <a:txBody>
                    <a:bodyPr/>
                    <a:lstStyle/>
                    <a:p>
                      <a:pPr lvl="0" indent="0" marL="0">
                        <a:buNone/>
                      </a:pPr>
                      <a:r>
                        <a:rPr/>
                        <a:t>Category</a:t>
                      </a:r>
                    </a:p>
                  </a:txBody>
                  <a:tcPr/>
                </a:tc>
                <a:tc>
                  <a:txBody>
                    <a:bodyPr/>
                    <a:lstStyle/>
                    <a:p>
                      <a:pPr lvl="0" indent="0" marL="0">
                        <a:buNone/>
                      </a:pPr>
                      <a:r>
                        <a:rPr/>
                        <a:t>Metric Type</a:t>
                      </a:r>
                    </a:p>
                  </a:txBody>
                  <a:tcPr/>
                </a:tc>
                <a:tc>
                  <a:txBody>
                    <a:bodyPr/>
                    <a:lstStyle/>
                    <a:p>
                      <a:pPr lvl="0" indent="0" marL="0">
                        <a:buNone/>
                      </a:pPr>
                      <a:r>
                        <a:rPr/>
                        <a:t>Examples</a:t>
                      </a:r>
                    </a:p>
                  </a:txBody>
                  <a:tcPr/>
                </a:tc>
              </a:tr>
              <a:tr h="0">
                <a:tc>
                  <a:txBody>
                    <a:bodyPr/>
                    <a:lstStyle/>
                    <a:p>
                      <a:pPr lvl="0" indent="0" marL="0">
                        <a:buNone/>
                      </a:pPr>
                      <a:r>
                        <a:rPr b="1"/>
                        <a:t>Retention</a:t>
                      </a:r>
                    </a:p>
                  </a:txBody>
                </a:tc>
                <a:tc>
                  <a:txBody>
                    <a:bodyPr/>
                    <a:lstStyle/>
                    <a:p>
                      <a:pPr lvl="0" indent="0" marL="0">
                        <a:buNone/>
                      </a:pPr>
                      <a:r>
                        <a:rPr/>
                        <a:t>User-Level Retention</a:t>
                      </a:r>
                    </a:p>
                  </a:txBody>
                </a:tc>
                <a:tc>
                  <a:txBody>
                    <a:bodyPr/>
                    <a:lstStyle/>
                    <a:p>
                      <a:pPr lvl="0" indent="0" marL="0">
                        <a:buNone/>
                      </a:pPr>
                      <a:r>
                        <a:rPr/>
                        <a:t>DAU/MAU, session count</a:t>
                      </a:r>
                    </a:p>
                  </a:txBody>
                </a:tc>
              </a:tr>
              <a:tr h="0">
                <a:tc>
                  <a:txBody>
                    <a:bodyPr/>
                    <a:lstStyle/>
                    <a:p>
                      <a:pPr lvl="0" indent="0" marL="0">
                        <a:buNone/>
                      </a:pPr>
                      <a:r>
                        <a:rPr b="1"/>
                        <a:t>Engagement</a:t>
                      </a:r>
                    </a:p>
                  </a:txBody>
                </a:tc>
                <a:tc>
                  <a:txBody>
                    <a:bodyPr/>
                    <a:lstStyle/>
                    <a:p>
                      <a:pPr lvl="0" indent="0" marL="0">
                        <a:buNone/>
                      </a:pPr>
                      <a:r>
                        <a:rPr/>
                        <a:t>Action-Based</a:t>
                      </a:r>
                    </a:p>
                  </a:txBody>
                </a:tc>
                <a:tc>
                  <a:txBody>
                    <a:bodyPr/>
                    <a:lstStyle/>
                    <a:p>
                      <a:pPr lvl="0" indent="0" marL="0">
                        <a:buNone/>
                      </a:pPr>
                      <a:r>
                        <a:rPr/>
                        <a:t>Response rate, clicks, rewrites</a:t>
                      </a:r>
                    </a:p>
                  </a:txBody>
                </a:tc>
              </a:tr>
              <a:tr h="0">
                <a:tc>
                  <a:txBody>
                    <a:bodyPr/>
                    <a:lstStyle/>
                    <a:p>
                      <a:pPr lvl="0" indent="0" marL="0">
                        <a:buNone/>
                      </a:pPr>
                      <a:r>
                        <a:rPr b="1"/>
                        <a:t>Engagement</a:t>
                      </a:r>
                    </a:p>
                  </a:txBody>
                </a:tc>
                <a:tc>
                  <a:txBody>
                    <a:bodyPr/>
                    <a:lstStyle/>
                    <a:p>
                      <a:pPr lvl="0" indent="0" marL="0">
                        <a:buNone/>
                      </a:pPr>
                      <a:r>
                        <a:rPr/>
                        <a:t>Interaction Duration</a:t>
                      </a:r>
                    </a:p>
                  </a:txBody>
                </a:tc>
                <a:tc>
                  <a:txBody>
                    <a:bodyPr/>
                    <a:lstStyle/>
                    <a:p>
                      <a:pPr lvl="0" indent="0" marL="0">
                        <a:buNone/>
                      </a:pPr>
                      <a:r>
                        <a:rPr/>
                        <a:t>Session length, conversational turns</a:t>
                      </a:r>
                    </a:p>
                  </a:txBody>
                </a:tc>
              </a:tr>
              <a:tr h="0">
                <a:tc>
                  <a:txBody>
                    <a:bodyPr/>
                    <a:lstStyle/>
                    <a:p>
                      <a:pPr lvl="0" indent="0" marL="0">
                        <a:buNone/>
                      </a:pPr>
                      <a:r>
                        <a:rPr b="1"/>
                        <a:t>Engagement</a:t>
                      </a:r>
                    </a:p>
                  </a:txBody>
                </a:tc>
                <a:tc>
                  <a:txBody>
                    <a:bodyPr/>
                    <a:lstStyle/>
                    <a:p>
                      <a:pPr lvl="0" indent="0" marL="0">
                        <a:buNone/>
                      </a:pPr>
                      <a:r>
                        <a:rPr/>
                        <a:t>Feature Uptake</a:t>
                      </a:r>
                    </a:p>
                  </a:txBody>
                </a:tc>
                <a:tc>
                  <a:txBody>
                    <a:bodyPr/>
                    <a:lstStyle/>
                    <a:p>
                      <a:pPr lvl="0" indent="0" marL="0">
                        <a:buNone/>
                      </a:pPr>
                      <a:r>
                        <a:rPr/>
                        <a:t>Click-through to links, feature use</a:t>
                      </a:r>
                    </a:p>
                  </a:txBody>
                </a:tc>
              </a:tr>
              <a:tr h="0">
                <a:tc>
                  <a:txBody>
                    <a:bodyPr/>
                    <a:lstStyle/>
                    <a:p>
                      <a:pPr lvl="0" indent="0" marL="0">
                        <a:buNone/>
                      </a:pPr>
                      <a:r>
                        <a:rPr b="1"/>
                        <a:t>Non-Engagement</a:t>
                      </a:r>
                    </a:p>
                  </a:txBody>
                </a:tc>
                <a:tc>
                  <a:txBody>
                    <a:bodyPr/>
                    <a:lstStyle/>
                    <a:p>
                      <a:pPr lvl="0" indent="0" marL="0">
                        <a:buNone/>
                      </a:pPr>
                      <a:r>
                        <a:rPr/>
                        <a:t>Quality Scores</a:t>
                      </a:r>
                    </a:p>
                  </a:txBody>
                </a:tc>
                <a:tc>
                  <a:txBody>
                    <a:bodyPr/>
                    <a:lstStyle/>
                    <a:p>
                      <a:pPr lvl="0" indent="0" marL="0">
                        <a:buNone/>
                      </a:pPr>
                      <a:r>
                        <a:rPr/>
                        <a:t>Toxicity score, informativeness</a:t>
                      </a:r>
                    </a:p>
                  </a:txBody>
                </a:tc>
              </a:tr>
              <a:tr h="0">
                <a:tc>
                  <a:txBody>
                    <a:bodyPr/>
                    <a:lstStyle/>
                    <a:p>
                      <a:pPr lvl="0" indent="0" marL="0">
                        <a:buNone/>
                      </a:pPr>
                      <a:r>
                        <a:rPr b="1"/>
                        <a:t>Non-Engagement</a:t>
                      </a:r>
                    </a:p>
                  </a:txBody>
                </a:tc>
                <a:tc>
                  <a:txBody>
                    <a:bodyPr/>
                    <a:lstStyle/>
                    <a:p>
                      <a:pPr lvl="0" indent="0" marL="0">
                        <a:buNone/>
                      </a:pPr>
                      <a:r>
                        <a:rPr/>
                        <a:t>Item-Level Surveys</a:t>
                      </a:r>
                    </a:p>
                  </a:txBody>
                </a:tc>
                <a:tc>
                  <a:txBody>
                    <a:bodyPr/>
                    <a:lstStyle/>
                    <a:p>
                      <a:pPr lvl="0" indent="0" marL="0">
                        <a:buNone/>
                      </a:pPr>
                      <a:r>
                        <a:rPr/>
                        <a:t>“Helpful” ratings, “want more” votes</a:t>
                      </a:r>
                    </a:p>
                  </a:txBody>
                </a:tc>
              </a:tr>
              <a:tr h="0">
                <a:tc>
                  <a:txBody>
                    <a:bodyPr/>
                    <a:lstStyle/>
                    <a:p>
                      <a:pPr lvl="0" indent="0" marL="0">
                        <a:buNone/>
                      </a:pPr>
                      <a:r>
                        <a:rPr b="1"/>
                        <a:t>Non-Engagement</a:t>
                      </a:r>
                    </a:p>
                  </a:txBody>
                </a:tc>
                <a:tc>
                  <a:txBody>
                    <a:bodyPr/>
                    <a:lstStyle/>
                    <a:p>
                      <a:pPr lvl="0" indent="0" marL="0">
                        <a:buNone/>
                      </a:pPr>
                      <a:r>
                        <a:rPr/>
                        <a:t>User-Level Surveys</a:t>
                      </a:r>
                    </a:p>
                  </a:txBody>
                </a:tc>
                <a:tc>
                  <a:txBody>
                    <a:bodyPr/>
                    <a:lstStyle/>
                    <a:p>
                      <a:pPr lvl="0" indent="0" marL="0">
                        <a:buNone/>
                      </a:pPr>
                      <a:r>
                        <a:rPr/>
                        <a:t>Overall satisfaction, usability</a:t>
                      </a:r>
                    </a:p>
                  </a:txBody>
                </a:tc>
              </a:tr>
              <a:tr h="0">
                <a:tc>
                  <a:txBody>
                    <a:bodyPr/>
                    <a:lstStyle/>
                    <a:p>
                      <a:pPr lvl="0" indent="0" marL="0">
                        <a:buNone/>
                      </a:pPr>
                      <a:r>
                        <a:rPr b="1"/>
                        <a:t>Non-Engagement</a:t>
                      </a:r>
                    </a:p>
                  </a:txBody>
                </a:tc>
                <a:tc>
                  <a:txBody>
                    <a:bodyPr/>
                    <a:lstStyle/>
                    <a:p>
                      <a:pPr lvl="0" indent="0" marL="0">
                        <a:buNone/>
                      </a:pPr>
                      <a:r>
                        <a:rPr/>
                        <a:t>User Control</a:t>
                      </a:r>
                    </a:p>
                  </a:txBody>
                </a:tc>
                <a:tc>
                  <a:txBody>
                    <a:bodyPr/>
                    <a:lstStyle/>
                    <a:p>
                      <a:pPr lvl="0" indent="0" marL="0">
                        <a:buNone/>
                      </a:pPr>
                      <a:r>
                        <a:rPr/>
                        <a:t>Topic subscriptions, filtering</a:t>
                      </a:r>
                    </a:p>
                  </a:txBody>
                </a:tc>
              </a:tr>
            </a:tbl>
          </a:graphicData>
        </a:graphic>
      </p:graphicFrame>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Level 3: User Evaluation</a:t>
            </a:r>
          </a:p>
        </p:txBody>
      </p:sp>
      <p:sp>
        <p:nvSpPr>
          <p:cNvPr id="3" name="Content Placeholder 2"/>
          <p:cNvSpPr>
            <a:spLocks noGrp="1"/>
          </p:cNvSpPr>
          <p:nvPr>
            <p:ph idx="1"/>
          </p:nvPr>
        </p:nvSpPr>
        <p:spPr/>
        <p:txBody>
          <a:bodyPr/>
          <a:lstStyle/>
          <a:p>
            <a:pPr lvl="0" indent="0" marL="0">
              <a:buNone/>
            </a:pPr>
            <a:r>
              <a:rPr b="1"/>
              <a:t>Question</a:t>
            </a:r>
            <a:r>
              <a:rPr/>
              <a:t>: Does the product positively support users’ thoughts, feelings, knowledge, and behaviors?</a:t>
            </a:r>
          </a:p>
          <a:p>
            <a:pPr lvl="0" indent="0" marL="0">
              <a:buNone/>
            </a:pPr>
            <a:r>
              <a:rPr b="1"/>
              <a:t>Why important</a:t>
            </a:r>
            <a:r>
              <a:rPr/>
              <a:t>: Once product functions correctly (Level 1) and engages users (Level 2), ask: Is it changing how users think, feel, or act? User psychological and behavioral changes are early indicators of long-term development goals. These evaluations are faster and cheaper than full impact evaluations, allowing rapid iteration.</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Level 3: Focus Areas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409700"/>
                <a:gridCol w="2349500"/>
                <a:gridCol w="4470400"/>
              </a:tblGrid>
              <a:tr h="0">
                <a:tc>
                  <a:txBody>
                    <a:bodyPr/>
                    <a:lstStyle/>
                    <a:p>
                      <a:pPr lvl="0" indent="0" marL="0">
                        <a:buNone/>
                      </a:pPr>
                      <a:r>
                        <a:rPr/>
                        <a:t>Area</a:t>
                      </a:r>
                    </a:p>
                  </a:txBody>
                  <a:tcPr/>
                </a:tc>
                <a:tc>
                  <a:txBody>
                    <a:bodyPr/>
                    <a:lstStyle/>
                    <a:p>
                      <a:pPr lvl="0" indent="0" marL="0">
                        <a:buNone/>
                      </a:pPr>
                      <a:r>
                        <a:rPr/>
                        <a:t>Question</a:t>
                      </a:r>
                    </a:p>
                  </a:txBody>
                  <a:tcPr/>
                </a:tc>
                <a:tc>
                  <a:txBody>
                    <a:bodyPr/>
                    <a:lstStyle/>
                    <a:p>
                      <a:pPr lvl="0" indent="0" marL="0">
                        <a:buNone/>
                      </a:pPr>
                      <a:r>
                        <a:rPr/>
                        <a:t>Example Constructs</a:t>
                      </a:r>
                    </a:p>
                  </a:txBody>
                  <a:tcPr/>
                </a:tc>
              </a:tr>
              <a:tr h="0">
                <a:tc>
                  <a:txBody>
                    <a:bodyPr/>
                    <a:lstStyle/>
                    <a:p>
                      <a:pPr lvl="0" indent="0" marL="0">
                        <a:buNone/>
                      </a:pPr>
                      <a:r>
                        <a:rPr b="1"/>
                        <a:t>Cognitive</a:t>
                      </a:r>
                    </a:p>
                  </a:txBody>
                </a:tc>
                <a:tc>
                  <a:txBody>
                    <a:bodyPr/>
                    <a:lstStyle/>
                    <a:p>
                      <a:pPr lvl="0" indent="0" marL="0">
                        <a:buNone/>
                      </a:pPr>
                      <a:r>
                        <a:rPr/>
                        <a:t>Are users gaining knowledge or improving skills?</a:t>
                      </a:r>
                    </a:p>
                  </a:txBody>
                </a:tc>
                <a:tc>
                  <a:txBody>
                    <a:bodyPr/>
                    <a:lstStyle/>
                    <a:p>
                      <a:pPr lvl="0" indent="0" marL="0">
                        <a:buNone/>
                      </a:pPr>
                      <a:r>
                        <a:rPr/>
                        <a:t>Comprehension, reflection, reasoning, perceived clarity</a:t>
                      </a:r>
                    </a:p>
                  </a:txBody>
                </a:tc>
              </a:tr>
              <a:tr h="0">
                <a:tc>
                  <a:txBody>
                    <a:bodyPr/>
                    <a:lstStyle/>
                    <a:p>
                      <a:pPr lvl="0" indent="0" marL="0">
                        <a:buNone/>
                      </a:pPr>
                      <a:r>
                        <a:rPr b="1"/>
                        <a:t>Affective</a:t>
                      </a:r>
                    </a:p>
                  </a:txBody>
                </a:tc>
                <a:tc>
                  <a:txBody>
                    <a:bodyPr/>
                    <a:lstStyle/>
                    <a:p>
                      <a:pPr lvl="0" indent="0" marL="0">
                        <a:buNone/>
                      </a:pPr>
                      <a:r>
                        <a:rPr/>
                        <a:t>How does the product make users feel?</a:t>
                      </a:r>
                    </a:p>
                  </a:txBody>
                </a:tc>
                <a:tc>
                  <a:txBody>
                    <a:bodyPr/>
                    <a:lstStyle/>
                    <a:p>
                      <a:pPr lvl="0" indent="0" marL="0">
                        <a:buNone/>
                      </a:pPr>
                      <a:r>
                        <a:rPr/>
                        <a:t>Mood, belonging, empathy, trust, comfort with AI</a:t>
                      </a:r>
                    </a:p>
                  </a:txBody>
                </a:tc>
              </a:tr>
              <a:tr h="0">
                <a:tc>
                  <a:txBody>
                    <a:bodyPr/>
                    <a:lstStyle/>
                    <a:p>
                      <a:pPr lvl="0" indent="0" marL="0">
                        <a:buNone/>
                      </a:pPr>
                      <a:r>
                        <a:rPr b="1"/>
                        <a:t>Behavioral</a:t>
                      </a:r>
                    </a:p>
                  </a:txBody>
                </a:tc>
                <a:tc>
                  <a:txBody>
                    <a:bodyPr/>
                    <a:lstStyle/>
                    <a:p>
                      <a:pPr lvl="0" indent="0" marL="0">
                        <a:buNone/>
                      </a:pPr>
                      <a:r>
                        <a:rPr/>
                        <a:t>Are users taking meaningful actions?</a:t>
                      </a:r>
                    </a:p>
                  </a:txBody>
                </a:tc>
                <a:tc>
                  <a:txBody>
                    <a:bodyPr/>
                    <a:lstStyle/>
                    <a:p>
                      <a:pPr lvl="0" indent="0" marL="0">
                        <a:buNone/>
                      </a:pPr>
                      <a:r>
                        <a:rPr/>
                        <a:t>Acquisition, recall, application of information; observable behaviors</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is Most Involved?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47900"/>
                <a:gridCol w="5981700"/>
              </a:tblGrid>
              <a:tr h="0">
                <a:tc>
                  <a:txBody>
                    <a:bodyPr/>
                    <a:lstStyle/>
                    <a:p>
                      <a:pPr lvl="0" indent="0" marL="0">
                        <a:buNone/>
                      </a:pPr>
                      <a:r>
                        <a:rPr/>
                        <a:t>Role</a:t>
                      </a:r>
                    </a:p>
                  </a:txBody>
                  <a:tcPr/>
                </a:tc>
                <a:tc>
                  <a:txBody>
                    <a:bodyPr/>
                    <a:lstStyle/>
                    <a:p>
                      <a:pPr lvl="0" indent="0" marL="0">
                        <a:buNone/>
                      </a:pPr>
                      <a:r>
                        <a:rPr/>
                        <a:t>Responsibility</a:t>
                      </a:r>
                    </a:p>
                  </a:txBody>
                  <a:tcPr/>
                </a:tc>
              </a:tr>
              <a:tr h="0">
                <a:tc>
                  <a:txBody>
                    <a:bodyPr/>
                    <a:lstStyle/>
                    <a:p>
                      <a:pPr lvl="0" indent="0" marL="0">
                        <a:buNone/>
                      </a:pPr>
                      <a:r>
                        <a:rPr b="1"/>
                        <a:t>Psychologists, UX Researchers</a:t>
                      </a:r>
                    </a:p>
                  </a:txBody>
                </a:tc>
                <a:tc>
                  <a:txBody>
                    <a:bodyPr/>
                    <a:lstStyle/>
                    <a:p>
                      <a:pPr lvl="0" indent="0" marL="0">
                        <a:buNone/>
                      </a:pPr>
                      <a:r>
                        <a:rPr/>
                        <a:t>Execute - Apply evaluation methods</a:t>
                      </a:r>
                    </a:p>
                  </a:txBody>
                </a:tc>
              </a:tr>
              <a:tr h="0">
                <a:tc>
                  <a:txBody>
                    <a:bodyPr/>
                    <a:lstStyle/>
                    <a:p>
                      <a:pPr lvl="0" indent="0" marL="0">
                        <a:buNone/>
                      </a:pPr>
                      <a:r>
                        <a:rPr b="1"/>
                        <a:t>Data Scientists</a:t>
                      </a:r>
                    </a:p>
                  </a:txBody>
                </a:tc>
                <a:tc>
                  <a:txBody>
                    <a:bodyPr/>
                    <a:lstStyle/>
                    <a:p>
                      <a:pPr lvl="0" indent="0" marL="0">
                        <a:buNone/>
                      </a:pPr>
                      <a:r>
                        <a:rPr/>
                        <a:t>Support - Design A/B tests and experiments</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Evaluation Methods</a:t>
            </a:r>
          </a:p>
        </p:txBody>
      </p:sp>
      <p:sp>
        <p:nvSpPr>
          <p:cNvPr id="3" name="Content Placeholder 2"/>
          <p:cNvSpPr>
            <a:spLocks noGrp="1"/>
          </p:cNvSpPr>
          <p:nvPr>
            <p:ph idx="1"/>
          </p:nvPr>
        </p:nvSpPr>
        <p:spPr/>
        <p:txBody>
          <a:bodyPr/>
          <a:lstStyle/>
          <a:p>
            <a:pPr lvl="0"/>
            <a:r>
              <a:rPr/>
              <a:t>A/B testing: Feature A vs. Feature B</a:t>
            </a:r>
          </a:p>
          <a:p>
            <a:pPr lvl="0"/>
            <a:r>
              <a:rPr/>
              <a:t>Multi-armed bandit: Performance-based adaptive allocations</a:t>
            </a:r>
          </a:p>
          <a:p>
            <a:pPr lvl="0"/>
            <a:r>
              <a:rPr/>
              <a:t>Holdout testing: AI vs. non-AI</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Measurement Tools: 4 Categories</a:t>
            </a:r>
          </a:p>
        </p:txBody>
      </p:sp>
      <p:sp>
        <p:nvSpPr>
          <p:cNvPr id="3" name="Content Placeholder 2"/>
          <p:cNvSpPr>
            <a:spLocks noGrp="1"/>
          </p:cNvSpPr>
          <p:nvPr>
            <p:ph idx="1"/>
          </p:nvPr>
        </p:nvSpPr>
        <p:spPr/>
        <p:txBody>
          <a:bodyPr/>
          <a:lstStyle/>
          <a:p>
            <a:pPr lvl="0" indent="-342900" marL="342900">
              <a:buAutoNum type="arabicPeriod"/>
            </a:pPr>
            <a:r>
              <a:rPr b="1"/>
              <a:t>On-Platform Behavioral Measures</a:t>
            </a:r>
            <a:r>
              <a:rPr/>
              <a:t>:</a:t>
            </a:r>
          </a:p>
          <a:p>
            <a:pPr lvl="1"/>
            <a:r>
              <a:rPr/>
              <a:t>Frequency and depth of queries</a:t>
            </a:r>
          </a:p>
          <a:p>
            <a:pPr lvl="1"/>
            <a:r>
              <a:rPr/>
              <a:t>Changes in language complexity</a:t>
            </a:r>
          </a:p>
          <a:p>
            <a:pPr lvl="1"/>
            <a:r>
              <a:rPr/>
              <a:t>Follow-up question rate</a:t>
            </a:r>
          </a:p>
          <a:p>
            <a:pPr lvl="1"/>
            <a:r>
              <a:rPr/>
              <a:t>Session duration &amp; return rate</a:t>
            </a:r>
          </a:p>
          <a:p>
            <a:pPr lvl="1"/>
            <a:r>
              <a:rPr/>
              <a:t>Feature utilization and AI suggestions followed</a:t>
            </a:r>
          </a:p>
          <a:p>
            <a:pPr lvl="0" indent="-342900" marL="342900">
              <a:buAutoNum type="arabicPeriod"/>
            </a:pPr>
            <a:r>
              <a:rPr b="1"/>
              <a:t>Short Self-Report Surveys</a:t>
            </a:r>
            <a:r>
              <a:rPr/>
              <a:t>: Validated scales, brief and specific, integrated into flow</a:t>
            </a:r>
          </a:p>
          <a:p>
            <a:pPr lvl="0" indent="-342900" marL="342900">
              <a:buAutoNum type="arabicPeriod"/>
            </a:pPr>
            <a:r>
              <a:rPr b="1"/>
              <a:t>NLP and Text Analysis</a:t>
            </a:r>
            <a:r>
              <a:rPr/>
              <a:t>: Sentiment analysis, topic modeling, LIWC, LLM-based analysis</a:t>
            </a:r>
          </a:p>
          <a:p>
            <a:pPr lvl="0" indent="-342900" marL="342900">
              <a:buAutoNum type="arabicPeriod"/>
            </a:pPr>
            <a:r>
              <a:rPr b="1"/>
              <a:t>Off-Platform Measures</a:t>
            </a:r>
            <a:r>
              <a:rPr/>
              <a:t>: Longer surveys, observer reports, objective performance data</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Level 4: Impact Evaluation</a:t>
            </a:r>
          </a:p>
        </p:txBody>
      </p:sp>
      <p:sp>
        <p:nvSpPr>
          <p:cNvPr id="3" name="Content Placeholder 2"/>
          <p:cNvSpPr>
            <a:spLocks noGrp="1"/>
          </p:cNvSpPr>
          <p:nvPr>
            <p:ph idx="1"/>
          </p:nvPr>
        </p:nvSpPr>
        <p:spPr/>
        <p:txBody>
          <a:bodyPr/>
          <a:lstStyle/>
          <a:p>
            <a:pPr lvl="0" indent="0" marL="0">
              <a:buNone/>
            </a:pPr>
            <a:r>
              <a:rPr b="1"/>
              <a:t>Question</a:t>
            </a:r>
            <a:r>
              <a:rPr/>
              <a:t>: Does the product improve development outcomes?</a:t>
            </a:r>
          </a:p>
          <a:p>
            <a:pPr lvl="0" indent="0" marL="0">
              <a:buNone/>
            </a:pPr>
            <a:r>
              <a:rPr b="1"/>
              <a:t>Why important</a:t>
            </a:r>
            <a:r>
              <a:rPr/>
              <a:t>: IEs measure effects on outcomes like mortality, learning, and earnings. The challenge: many things happen simultaneously, making simple before-and-after comparisons unreliable.</a:t>
            </a:r>
          </a:p>
          <a:p>
            <a:pPr lvl="0" indent="0" marL="0">
              <a:buNone/>
            </a:pPr>
            <a:r>
              <a:rPr b="1"/>
              <a:t>Solution</a:t>
            </a:r>
            <a:r>
              <a:rPr/>
              <a:t>: Use a </a:t>
            </a:r>
            <a:r>
              <a:rPr b="1"/>
              <a:t>counterfactual</a:t>
            </a:r>
            <a:r>
              <a:rPr/>
              <a:t> - a similar sample that didn’t receive the intervention. This captures what would have happened without the intervention, allowing us to isolate the intervention’s impact.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Level 4: Counterfactual Methods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120900"/>
                <a:gridCol w="3454400"/>
                <a:gridCol w="2654300"/>
              </a:tblGrid>
              <a:tr h="0">
                <a:tc>
                  <a:txBody>
                    <a:bodyPr/>
                    <a:lstStyle/>
                    <a:p>
                      <a:pPr lvl="0" indent="0" marL="0">
                        <a:buNone/>
                      </a:pPr>
                      <a:r>
                        <a:rPr/>
                        <a:t>Method</a:t>
                      </a:r>
                    </a:p>
                  </a:txBody>
                  <a:tcPr/>
                </a:tc>
                <a:tc>
                  <a:txBody>
                    <a:bodyPr/>
                    <a:lstStyle/>
                    <a:p>
                      <a:pPr lvl="0" indent="0" marL="0">
                        <a:buNone/>
                      </a:pPr>
                      <a:r>
                        <a:rPr/>
                        <a:t>Description</a:t>
                      </a:r>
                    </a:p>
                  </a:txBody>
                  <a:tcPr/>
                </a:tc>
                <a:tc>
                  <a:txBody>
                    <a:bodyPr/>
                    <a:lstStyle/>
                    <a:p>
                      <a:pPr lvl="0" indent="0" marL="0">
                        <a:buNone/>
                      </a:pPr>
                      <a:r>
                        <a:rPr/>
                        <a:t>Best For</a:t>
                      </a:r>
                    </a:p>
                  </a:txBody>
                  <a:tcPr/>
                </a:tc>
              </a:tr>
              <a:tr h="0">
                <a:tc>
                  <a:txBody>
                    <a:bodyPr/>
                    <a:lstStyle/>
                    <a:p>
                      <a:pPr lvl="0" indent="0" marL="0">
                        <a:buNone/>
                      </a:pPr>
                      <a:r>
                        <a:rPr b="1"/>
                        <a:t>RCT</a:t>
                      </a:r>
                    </a:p>
                  </a:txBody>
                </a:tc>
                <a:tc>
                  <a:txBody>
                    <a:bodyPr/>
                    <a:lstStyle/>
                    <a:p>
                      <a:pPr lvl="0" indent="0" marL="0">
                        <a:buNone/>
                      </a:pPr>
                      <a:r>
                        <a:rPr/>
                        <a:t>Random assignment to treatment/control</a:t>
                      </a:r>
                    </a:p>
                  </a:txBody>
                </a:tc>
                <a:tc>
                  <a:txBody>
                    <a:bodyPr/>
                    <a:lstStyle/>
                    <a:p>
                      <a:pPr lvl="0" indent="0" marL="0">
                        <a:buNone/>
                      </a:pPr>
                      <a:r>
                        <a:rPr/>
                        <a:t>Most credible; gold standard</a:t>
                      </a:r>
                    </a:p>
                  </a:txBody>
                </a:tc>
              </a:tr>
              <a:tr h="0">
                <a:tc>
                  <a:txBody>
                    <a:bodyPr/>
                    <a:lstStyle/>
                    <a:p>
                      <a:pPr lvl="0" indent="0" marL="0">
                        <a:buNone/>
                      </a:pPr>
                      <a:r>
                        <a:rPr b="1"/>
                        <a:t>Propensity Score Matching</a:t>
                      </a:r>
                    </a:p>
                  </a:txBody>
                </a:tc>
                <a:tc>
                  <a:txBody>
                    <a:bodyPr/>
                    <a:lstStyle/>
                    <a:p>
                      <a:pPr lvl="0" indent="0" marL="0">
                        <a:buNone/>
                      </a:pPr>
                      <a:r>
                        <a:rPr/>
                        <a:t>Match on observable characteristics</a:t>
                      </a:r>
                    </a:p>
                  </a:txBody>
                </a:tc>
                <a:tc>
                  <a:txBody>
                    <a:bodyPr/>
                    <a:lstStyle/>
                    <a:p>
                      <a:pPr lvl="0" indent="0" marL="0">
                        <a:buNone/>
                      </a:pPr>
                      <a:r>
                        <a:rPr/>
                        <a:t>When randomization not possible</a:t>
                      </a:r>
                    </a:p>
                  </a:txBody>
                </a:tc>
              </a:tr>
              <a:tr h="0">
                <a:tc>
                  <a:txBody>
                    <a:bodyPr/>
                    <a:lstStyle/>
                    <a:p>
                      <a:pPr lvl="0" indent="0" marL="0">
                        <a:buNone/>
                      </a:pPr>
                      <a:r>
                        <a:rPr b="1"/>
                        <a:t>Difference-in-Differences</a:t>
                      </a:r>
                    </a:p>
                  </a:txBody>
                </a:tc>
                <a:tc>
                  <a:txBody>
                    <a:bodyPr/>
                    <a:lstStyle/>
                    <a:p>
                      <a:pPr lvl="0" indent="0" marL="0">
                        <a:buNone/>
                      </a:pPr>
                      <a:r>
                        <a:rPr/>
                        <a:t>Compare trends before/after</a:t>
                      </a:r>
                    </a:p>
                  </a:txBody>
                </a:tc>
                <a:tc>
                  <a:txBody>
                    <a:bodyPr/>
                    <a:lstStyle/>
                    <a:p>
                      <a:pPr lvl="0" indent="0" marL="0">
                        <a:buNone/>
                      </a:pPr>
                      <a:r>
                        <a:rPr/>
                        <a:t>When parallel trends assumption holds</a:t>
                      </a:r>
                    </a:p>
                  </a:txBody>
                </a:tc>
              </a:tr>
              <a:tr h="0">
                <a:tc>
                  <a:txBody>
                    <a:bodyPr/>
                    <a:lstStyle/>
                    <a:p>
                      <a:pPr lvl="0" indent="0" marL="0">
                        <a:buNone/>
                      </a:pPr>
                      <a:r>
                        <a:rPr b="1"/>
                        <a:t>Regression Discontinuity</a:t>
                      </a:r>
                    </a:p>
                  </a:txBody>
                </a:tc>
                <a:tc>
                  <a:txBody>
                    <a:bodyPr/>
                    <a:lstStyle/>
                    <a:p>
                      <a:pPr lvl="0" indent="0" marL="0">
                        <a:buNone/>
                      </a:pPr>
                      <a:r>
                        <a:rPr/>
                        <a:t>Compare units just above/below cutoff</a:t>
                      </a:r>
                    </a:p>
                  </a:txBody>
                </a:tc>
                <a:tc>
                  <a:txBody>
                    <a:bodyPr/>
                    <a:lstStyle/>
                    <a:p>
                      <a:pPr lvl="0" indent="0" marL="0">
                        <a:buNone/>
                      </a:pPr>
                      <a:r>
                        <a:rPr/>
                        <a:t>When cutoff exists and is exogenous</a:t>
                      </a:r>
                    </a:p>
                  </a:txBody>
                </a:tc>
              </a:tr>
            </a:tbl>
          </a:graphicData>
        </a:graphic>
      </p:graphicFrame>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RCTs</a:t>
            </a:r>
            <a:r>
              <a:rPr/>
              <a:t> are the most credible way to determine causal impact. Random assignment ensures differences can be attributed to the intervention, not population differences or external factors.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is Most Involved?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47900"/>
                <a:gridCol w="5981700"/>
              </a:tblGrid>
              <a:tr h="0">
                <a:tc>
                  <a:txBody>
                    <a:bodyPr/>
                    <a:lstStyle/>
                    <a:p>
                      <a:pPr lvl="0" indent="0" marL="0">
                        <a:buNone/>
                      </a:pPr>
                      <a:r>
                        <a:rPr/>
                        <a:t>Role</a:t>
                      </a:r>
                    </a:p>
                  </a:txBody>
                  <a:tcPr/>
                </a:tc>
                <a:tc>
                  <a:txBody>
                    <a:bodyPr/>
                    <a:lstStyle/>
                    <a:p>
                      <a:pPr lvl="0" indent="0" marL="0">
                        <a:buNone/>
                      </a:pPr>
                      <a:r>
                        <a:rPr/>
                        <a:t>Responsibility</a:t>
                      </a:r>
                    </a:p>
                  </a:txBody>
                  <a:tcPr/>
                </a:tc>
              </a:tr>
              <a:tr h="0">
                <a:tc>
                  <a:txBody>
                    <a:bodyPr/>
                    <a:lstStyle/>
                    <a:p>
                      <a:pPr lvl="0" indent="0" marL="0">
                        <a:buNone/>
                      </a:pPr>
                      <a:r>
                        <a:rPr b="1"/>
                        <a:t>Policy Researchers, Economists</a:t>
                      </a:r>
                    </a:p>
                  </a:txBody>
                </a:tc>
                <a:tc>
                  <a:txBody>
                    <a:bodyPr/>
                    <a:lstStyle/>
                    <a:p>
                      <a:pPr lvl="0" indent="0" marL="0">
                        <a:buNone/>
                      </a:pPr>
                      <a:r>
                        <a:rPr/>
                        <a:t>Execute - Apply evaluation methods</a:t>
                      </a:r>
                    </a:p>
                  </a:txBody>
                </a:tc>
              </a:tr>
              <a:tr h="0">
                <a:tc>
                  <a:txBody>
                    <a:bodyPr/>
                    <a:lstStyle/>
                    <a:p>
                      <a:pPr lvl="0" indent="0" marL="0">
                        <a:buNone/>
                      </a:pPr>
                      <a:r>
                        <a:rPr b="1"/>
                        <a:t>AI Engineers</a:t>
                      </a:r>
                    </a:p>
                  </a:txBody>
                </a:tc>
                <a:tc>
                  <a:txBody>
                    <a:bodyPr/>
                    <a:lstStyle/>
                    <a:p>
                      <a:pPr lvl="0" indent="0" marL="0">
                        <a:buNone/>
                      </a:pPr>
                      <a:r>
                        <a:rPr/>
                        <a:t>Support - Ensure product functions as expected</a:t>
                      </a:r>
                    </a:p>
                  </a:txBody>
                </a:tc>
              </a:tr>
            </a:tbl>
          </a:graphicData>
        </a:graphic>
      </p:graphicFrame>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Do an Impact Evaluation?</a:t>
            </a:r>
          </a:p>
        </p:txBody>
      </p:sp>
      <p:sp>
        <p:nvSpPr>
          <p:cNvPr id="3" name="Content Placeholder 2"/>
          <p:cNvSpPr>
            <a:spLocks noGrp="1"/>
          </p:cNvSpPr>
          <p:nvPr>
            <p:ph idx="1"/>
          </p:nvPr>
        </p:nvSpPr>
        <p:spPr/>
        <p:txBody>
          <a:bodyPr/>
          <a:lstStyle/>
          <a:p>
            <a:pPr lvl="0" indent="0" marL="0">
              <a:buNone/>
            </a:pPr>
            <a:r>
              <a:rPr/>
              <a:t>There are 3 main reasons to do an impact evaluation:</a:t>
            </a:r>
          </a:p>
          <a:p>
            <a:pPr lvl="0" indent="-342900" marL="342900">
              <a:buAutoNum type="arabicPeriod"/>
            </a:pPr>
            <a:r>
              <a:rPr b="1"/>
              <a:t>Proof of concept</a:t>
            </a:r>
            <a:r>
              <a:rPr/>
              <a:t>: By isolating the effect of the intervention from the rest of the world, the impact evaluation allows you to causally attribute changes in outcomes to the intervention - giving you proof of concept.</a:t>
            </a:r>
          </a:p>
          <a:p>
            <a:pPr lvl="0" indent="-342900" marL="342900">
              <a:buAutoNum type="arabicPeriod"/>
            </a:pPr>
            <a:r>
              <a:rPr b="1"/>
              <a:t>Proof in different settings</a:t>
            </a:r>
            <a:r>
              <a:rPr/>
              <a:t>: Once you know it works in a particular setting, with a particular target population, you may want to show it will work in other settings or for other populations - then you can do additional impact evaluations.</a:t>
            </a:r>
          </a:p>
          <a:p>
            <a:pPr lvl="0" indent="-342900" marL="342900">
              <a:buAutoNum type="arabicPeriod"/>
            </a:pPr>
            <a:r>
              <a:rPr b="1"/>
              <a:t>Cost-benefit analysis</a:t>
            </a:r>
            <a:r>
              <a:rPr/>
              <a:t>: For many funders and public sector partners, IEs are critical for decision-making. They want credible evidence that a product meaningfully improves people’s lives - beyond engagement metrics or self-reported satisfaction - before committing to scale. A well-designed IE sends a strong signal that your product works in real-world conditions, and that scaling it is likely to generate meaningful social returns.</a:t>
            </a:r>
          </a:p>
          <a:p>
            <a:pPr lvl="0" indent="0" marL="0">
              <a:buNone/>
            </a:pPr>
            <a:r>
              <a:rPr/>
              <a:t>IEs also help funders compare across opportunities. When paired with cost data, they allow for robust estimates of cost-effectiveness and cost-benefit analysis - crucial when governments, donors, and multilateral institutions are allocating scarce resources. In many cases, the result of an IE becomes a key input in decisions to scale, replicate, or exit.</a:t>
            </a:r>
          </a:p>
          <a:p>
            <a:pPr lvl="0" indent="0" marL="0">
              <a:buNone/>
            </a:pPr>
            <a:r>
              <a:rPr b="1"/>
              <a:t>Important</a:t>
            </a:r>
            <a:r>
              <a:rPr/>
              <a:t>: It is important to be clear on why you are doing the impact evaluation at the outset, as this will affect the data you collect and how you design the evaluation. For example, if you are doing a proof of concept evaluation, you may want to invest more in collecting a rich set of outcomes in your Level 3 evaluations to understand how these map to ultimate welfare outcomes.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is it Appropriate?</a:t>
            </a:r>
          </a:p>
        </p:txBody>
      </p:sp>
      <p:sp>
        <p:nvSpPr>
          <p:cNvPr id="3" name="Content Placeholder 2"/>
          <p:cNvSpPr>
            <a:spLocks noGrp="1"/>
          </p:cNvSpPr>
          <p:nvPr>
            <p:ph idx="1"/>
          </p:nvPr>
        </p:nvSpPr>
        <p:spPr/>
        <p:txBody>
          <a:bodyPr/>
          <a:lstStyle/>
          <a:p>
            <a:pPr lvl="0" indent="0" marL="0">
              <a:buNone/>
            </a:pPr>
            <a:r>
              <a:rPr/>
              <a:t>IEs are high-investment undertakings, both financially (they often cost millions of dollars) and operationally (service providers have to adapt their operations, often in challenging ways, to make them work). They are most useful when your product is mature enough to test and when the decision stakes are high enough to justify the effort.</a:t>
            </a:r>
          </a:p>
          <a:p>
            <a:pPr lvl="0" indent="0" marL="0">
              <a:buNone/>
            </a:pPr>
            <a:r>
              <a:rPr b="1"/>
              <a:t>In general, consider an IE when</a:t>
            </a:r>
            <a:r>
              <a:rPr/>
              <a:t>:</a:t>
            </a:r>
          </a:p>
          <a:p>
            <a:pPr lvl="0"/>
            <a:r>
              <a:rPr b="1"/>
              <a:t>Levels 1-3 are strong</a:t>
            </a:r>
            <a:r>
              <a:rPr/>
              <a:t>: The model performs well, users engage meaningfully, and early evidence suggests improvements in knowledge, attitudes, or behavior.</a:t>
            </a:r>
          </a:p>
          <a:p>
            <a:pPr lvl="0"/>
            <a:r>
              <a:rPr b="1"/>
              <a:t>You are preparing to scale</a:t>
            </a:r>
            <a:r>
              <a:rPr/>
              <a:t>: Funders or policymakers are considering wider adoption, but want evidence, including cost-effectiveness or cost-benefit estimates, to support the decision.</a:t>
            </a:r>
          </a:p>
          <a:p>
            <a:pPr lvl="0"/>
            <a:r>
              <a:rPr b="1"/>
              <a:t>You have bandwidth</a:t>
            </a:r>
            <a:r>
              <a:rPr/>
              <a:t>: Implementing an IE is a lot of work for both the research team and implementer; doing it well takes time and effort.</a:t>
            </a:r>
          </a:p>
          <a:p>
            <a:pPr lvl="0"/>
            <a:r>
              <a:rPr b="1"/>
              <a:t>You are confident your product works</a:t>
            </a:r>
            <a:r>
              <a:rPr/>
              <a:t>: The world may be uncertain that your product has a meaningful impact, but you shouldn’t be. Your earlier stage evaluations should give you confident priors that you’ll find effects on development outcomes.</a:t>
            </a:r>
          </a:p>
          <a:p>
            <a:pPr lvl="0" indent="0" marL="0">
              <a:buNone/>
            </a:pPr>
            <a:r>
              <a:rPr b="1"/>
              <a:t>You do NOT need to run an IE if</a:t>
            </a:r>
            <a:r>
              <a:rPr/>
              <a:t> your product is still in early design or if usage is inconsistent to the point where you are worried about impacts. In those cases, Level 3 evaluations - focused on user cognition and behavior - can be more appropriate.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 for Evaluability Early</a:t>
            </a:r>
          </a:p>
        </p:txBody>
      </p:sp>
      <p:sp>
        <p:nvSpPr>
          <p:cNvPr id="3" name="Content Placeholder 2"/>
          <p:cNvSpPr>
            <a:spLocks noGrp="1"/>
          </p:cNvSpPr>
          <p:nvPr>
            <p:ph idx="1"/>
          </p:nvPr>
        </p:nvSpPr>
        <p:spPr/>
        <p:txBody>
          <a:bodyPr/>
          <a:lstStyle/>
          <a:p>
            <a:pPr lvl="0" indent="0" marL="0">
              <a:buNone/>
            </a:pPr>
            <a:r>
              <a:rPr/>
              <a:t>Although impact evaluations are typically conducted at later stages, designing credible and cost-effective IEs often requires thinking about design decisions far earlier in the process. Incorporating features like holdout groups, staged rollouts, or embedded randomization into the initial product architecture (which could also be useful for A/B tests) ensures that rigorous causal evaluation remains possible - without requiring disruptive redesigns later on.</a:t>
            </a:r>
          </a:p>
          <a:p>
            <a:pPr lvl="0" indent="0" marL="0">
              <a:buNone/>
            </a:pPr>
            <a:r>
              <a:rPr/>
              <a:t>Even if a full IE is not yet justified, these design choices create structured opportunities for credible inference when the time comes and can significantly reduce the burden of evaluation. Funders assessing scale readiness should look for these signals of early evaluability.</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Do an IE Responsibly</a:t>
            </a:r>
          </a:p>
        </p:txBody>
      </p:sp>
      <p:sp>
        <p:nvSpPr>
          <p:cNvPr id="3" name="Content Placeholder 2"/>
          <p:cNvSpPr>
            <a:spLocks noGrp="1"/>
          </p:cNvSpPr>
          <p:nvPr>
            <p:ph idx="1"/>
          </p:nvPr>
        </p:nvSpPr>
        <p:spPr/>
        <p:txBody>
          <a:bodyPr/>
          <a:lstStyle/>
          <a:p>
            <a:pPr lvl="0" indent="0" marL="0">
              <a:buNone/>
            </a:pPr>
            <a:r>
              <a:rPr/>
              <a:t>Rigorous IEs require expertise. We recommend working with an </a:t>
            </a:r>
            <a:r>
              <a:rPr b="1"/>
              <a:t>independent evaluator</a:t>
            </a:r>
            <a:r>
              <a:rPr/>
              <a:t> - such as an academic partner, a research NGO (e.g., J-PAL, IPA), or a third-party M&amp;E firm. This enhances both the technical quality and the perceived credibility/independence of your evaluation.</a:t>
            </a:r>
          </a:p>
          <a:p>
            <a:pPr lvl="0" indent="0" marL="0">
              <a:buNone/>
            </a:pPr>
            <a:r>
              <a:rPr b="1"/>
              <a:t>At a minimum, we suggest</a:t>
            </a:r>
            <a:r>
              <a:rPr/>
              <a:t>:</a:t>
            </a:r>
          </a:p>
          <a:p>
            <a:pPr lvl="0"/>
            <a:r>
              <a:rPr b="1"/>
              <a:t>Clarifying roles</a:t>
            </a:r>
            <a:r>
              <a:rPr/>
              <a:t>: Who builds the product, who runs the study, who communicates findings</a:t>
            </a:r>
          </a:p>
          <a:p>
            <a:pPr lvl="0"/>
            <a:r>
              <a:rPr b="1"/>
              <a:t>Pre-registering the design</a:t>
            </a:r>
            <a:r>
              <a:rPr/>
              <a:t>: On platforms such as the AEA RCT Registry, EGAP, or RIDIE</a:t>
            </a:r>
          </a:p>
          <a:p>
            <a:pPr lvl="0"/>
            <a:r>
              <a:rPr b="1"/>
              <a:t>Sharing results transparently</a:t>
            </a:r>
            <a:r>
              <a:rPr/>
              <a:t>: Disclose all findings, including null or negative results, and make methods and materials publicly available where feasible to support reproducibility and sector-wide learning</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Impact Evaluation Methods</a:t>
            </a:r>
          </a:p>
        </p:txBody>
      </p:sp>
      <p:sp>
        <p:nvSpPr>
          <p:cNvPr id="3" name="Content Placeholder 2"/>
          <p:cNvSpPr>
            <a:spLocks noGrp="1"/>
          </p:cNvSpPr>
          <p:nvPr>
            <p:ph idx="1"/>
          </p:nvPr>
        </p:nvSpPr>
        <p:spPr/>
        <p:txBody>
          <a:bodyPr/>
          <a:lstStyle/>
          <a:p>
            <a:pPr lvl="0" indent="-342900" marL="342900">
              <a:buAutoNum type="arabicPeriod"/>
            </a:pPr>
            <a:r>
              <a:rPr b="1"/>
              <a:t>Randomized Control Trials</a:t>
            </a:r>
            <a:r>
              <a:rPr/>
              <a:t>: Random assignment to treatment/control</a:t>
            </a:r>
          </a:p>
          <a:p>
            <a:pPr lvl="0" indent="-342900" marL="342900">
              <a:buAutoNum type="arabicPeriod"/>
            </a:pPr>
            <a:r>
              <a:rPr b="1"/>
              <a:t>Propensity Score Matching</a:t>
            </a:r>
            <a:r>
              <a:rPr/>
              <a:t>: Match on observable characteristics</a:t>
            </a:r>
          </a:p>
          <a:p>
            <a:pPr lvl="0" indent="-342900" marL="342900">
              <a:buAutoNum type="arabicPeriod"/>
            </a:pPr>
            <a:r>
              <a:rPr b="1"/>
              <a:t>Difference-in-Differences</a:t>
            </a:r>
            <a:r>
              <a:rPr/>
              <a:t>: Compare trends before/after intervention</a:t>
            </a:r>
          </a:p>
          <a:p>
            <a:pPr lvl="0" indent="-342900" marL="342900">
              <a:buAutoNum type="arabicPeriod"/>
            </a:pPr>
            <a:r>
              <a:rPr b="1"/>
              <a:t>Regression Discontinuity Design</a:t>
            </a:r>
            <a:r>
              <a:rPr/>
              <a:t>: Compare units just above/below cutoff</a:t>
            </a:r>
          </a:p>
          <a:p>
            <a:pPr lvl="0" indent="0" marL="0">
              <a:buNone/>
            </a:pPr>
            <a:r>
              <a:rPr b="1"/>
              <a:t>Focus</a:t>
            </a:r>
            <a:r>
              <a:rPr/>
              <a:t>: What is distinctive when evaluating AI-based products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Design Consideration 1: Counterfactual Selection</a:t>
            </a:r>
          </a:p>
        </p:txBody>
      </p:sp>
      <p:sp>
        <p:nvSpPr>
          <p:cNvPr id="3" name="Content Placeholder 2"/>
          <p:cNvSpPr>
            <a:spLocks noGrp="1"/>
          </p:cNvSpPr>
          <p:nvPr>
            <p:ph idx="1"/>
          </p:nvPr>
        </p:nvSpPr>
        <p:spPr/>
        <p:txBody>
          <a:bodyPr/>
          <a:lstStyle/>
          <a:p>
            <a:pPr lvl="0" indent="0" marL="0">
              <a:buNone/>
            </a:pPr>
            <a:r>
              <a:rPr b="1"/>
              <a:t>Options</a:t>
            </a:r>
            <a:r>
              <a:rPr/>
              <a:t>: - </a:t>
            </a:r>
            <a:r>
              <a:rPr b="1"/>
              <a:t>Pure control</a:t>
            </a:r>
            <a:r>
              <a:rPr/>
              <a:t>: No intervention at all - </a:t>
            </a:r>
            <a:r>
              <a:rPr b="1"/>
              <a:t>Business-as-usual</a:t>
            </a:r>
            <a:r>
              <a:rPr/>
              <a:t>: No digital support or sporadic human guidance - </a:t>
            </a:r>
            <a:r>
              <a:rPr b="1"/>
              <a:t>Non-AI digital tools</a:t>
            </a:r>
            <a:r>
              <a:rPr/>
              <a:t>: Static chatbots or curated content - </a:t>
            </a:r>
            <a:r>
              <a:rPr b="1"/>
              <a:t>Human-delivered services</a:t>
            </a:r>
            <a:r>
              <a:rPr/>
              <a:t>: When AI substitutes for scarce labor</a:t>
            </a:r>
          </a:p>
          <a:p>
            <a:pPr lvl="0" indent="0" marL="0">
              <a:buNone/>
            </a:pPr>
            <a:r>
              <a:rPr b="1"/>
              <a:t>Important</a:t>
            </a:r>
            <a:r>
              <a:rPr/>
              <a:t>: Justify selection and explain what it helps illuminate</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Design Consideration 2: Measuring Latent Access</a:t>
            </a:r>
          </a:p>
        </p:txBody>
      </p:sp>
      <p:sp>
        <p:nvSpPr>
          <p:cNvPr id="3" name="Content Placeholder 2"/>
          <p:cNvSpPr>
            <a:spLocks noGrp="1"/>
          </p:cNvSpPr>
          <p:nvPr>
            <p:ph idx="1"/>
          </p:nvPr>
        </p:nvSpPr>
        <p:spPr/>
        <p:txBody>
          <a:bodyPr/>
          <a:lstStyle/>
          <a:p>
            <a:pPr lvl="0" indent="0" marL="0">
              <a:buNone/>
            </a:pPr>
            <a:r>
              <a:rPr b="1"/>
              <a:t>Critical</a:t>
            </a:r>
            <a:r>
              <a:rPr/>
              <a:t>: Marginal benefit depends on what other support users already have</a:t>
            </a:r>
          </a:p>
          <a:p>
            <a:pPr lvl="0" indent="0" marL="0">
              <a:buNone/>
            </a:pPr>
            <a:r>
              <a:rPr b="1"/>
              <a:t>Measure</a:t>
            </a:r>
            <a:r>
              <a:rPr/>
              <a:t>: 1. Existing technology use (frequency, type, purpose) 2. What users rely on today (informal networks, human advisors, basic tech) 3. Leakage - how much control group has access to intervention</a:t>
            </a:r>
          </a:p>
          <a:p>
            <a:pPr lvl="0" indent="0" marL="0">
              <a:buNone/>
            </a:pPr>
            <a:r>
              <a:rPr b="1"/>
              <a:t>Why</a:t>
            </a:r>
            <a:r>
              <a:rPr/>
              <a:t>: Shapes incremental value added by AI product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Design Consideration 3: Managing Product Dynamism</a:t>
            </a:r>
          </a:p>
        </p:txBody>
      </p:sp>
      <p:sp>
        <p:nvSpPr>
          <p:cNvPr id="3" name="Content Placeholder 2"/>
          <p:cNvSpPr>
            <a:spLocks noGrp="1"/>
          </p:cNvSpPr>
          <p:nvPr>
            <p:ph idx="1"/>
          </p:nvPr>
        </p:nvSpPr>
        <p:spPr/>
        <p:txBody>
          <a:bodyPr/>
          <a:lstStyle/>
          <a:p>
            <a:pPr lvl="0" indent="0" marL="0">
              <a:buNone/>
            </a:pPr>
            <a:r>
              <a:rPr b="1"/>
              <a:t>Challenge</a:t>
            </a:r>
            <a:r>
              <a:rPr/>
              <a:t>: SUTVA assumption (same version for all treated units) often violated</a:t>
            </a:r>
          </a:p>
          <a:p>
            <a:pPr lvl="0" indent="0" marL="0">
              <a:buNone/>
            </a:pPr>
            <a:r>
              <a:rPr b="1"/>
              <a:t>AI products</a:t>
            </a:r>
            <a:r>
              <a:rPr/>
              <a:t>: Designed to improve iteratively - different participants may interact with different versions</a:t>
            </a:r>
          </a:p>
          <a:p>
            <a:pPr lvl="0" indent="0" marL="0">
              <a:buNone/>
            </a:pPr>
            <a:r>
              <a:rPr b="1"/>
              <a:t>Solutions</a:t>
            </a:r>
            <a:r>
              <a:rPr/>
              <a:t>: 1. Tag your versions 2. If A/B testing, randomize test participation 3. Maintain hold-out group on baseline version 4. Pre-specify at high level (not overly detailed)</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Design Consideration 4: Measuring True Development Outcomes</a:t>
            </a:r>
          </a:p>
        </p:txBody>
      </p:sp>
      <p:sp>
        <p:nvSpPr>
          <p:cNvPr id="3" name="Content Placeholder 2"/>
          <p:cNvSpPr>
            <a:spLocks noGrp="1"/>
          </p:cNvSpPr>
          <p:nvPr>
            <p:ph idx="1"/>
          </p:nvPr>
        </p:nvSpPr>
        <p:spPr/>
        <p:txBody>
          <a:bodyPr/>
          <a:lstStyle/>
          <a:p>
            <a:pPr lvl="0" indent="0" marL="0">
              <a:buNone/>
            </a:pPr>
            <a:r>
              <a:rPr b="1"/>
              <a:t>Challenge</a:t>
            </a:r>
            <a:r>
              <a:rPr/>
              <a:t>: AI tools often simulate expertise - does user learn or just copy?</a:t>
            </a:r>
          </a:p>
          <a:p>
            <a:pPr lvl="0" indent="0" marL="0">
              <a:buNone/>
            </a:pPr>
            <a:r>
              <a:rPr b="1"/>
              <a:t>Solutions</a:t>
            </a:r>
            <a:r>
              <a:rPr/>
              <a:t>: - Use industry-standard validated assessments - Use administrative data - Avoid measures that can be gamed by repeating AI output - Test ability when users don’t have access to AI</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Design Consideration 5: Managing Spillovers and Contamination</a:t>
            </a:r>
          </a:p>
        </p:txBody>
      </p:sp>
      <p:sp>
        <p:nvSpPr>
          <p:cNvPr id="3" name="Content Placeholder 2"/>
          <p:cNvSpPr>
            <a:spLocks noGrp="1"/>
          </p:cNvSpPr>
          <p:nvPr>
            <p:ph idx="1"/>
          </p:nvPr>
        </p:nvSpPr>
        <p:spPr/>
        <p:txBody>
          <a:bodyPr/>
          <a:lstStyle/>
          <a:p>
            <a:pPr lvl="0" indent="0" marL="0">
              <a:buNone/>
            </a:pPr>
            <a:r>
              <a:rPr b="1"/>
              <a:t>Challenge</a:t>
            </a:r>
            <a:r>
              <a:rPr/>
              <a:t>: AI tools designed for scale - freely accessible, easy to share</a:t>
            </a:r>
          </a:p>
          <a:p>
            <a:pPr lvl="0" indent="0" marL="0">
              <a:buNone/>
            </a:pPr>
            <a:r>
              <a:rPr b="1"/>
              <a:t>Strategies</a:t>
            </a:r>
            <a:r>
              <a:rPr/>
              <a:t>: - </a:t>
            </a:r>
            <a:r>
              <a:rPr b="1"/>
              <a:t>Controlled access</a:t>
            </a:r>
            <a:r>
              <a:rPr/>
              <a:t>: Individual or cluster assignment - </a:t>
            </a:r>
            <a:r>
              <a:rPr b="1"/>
              <a:t>Publicly available</a:t>
            </a:r>
            <a:r>
              <a:rPr/>
              <a:t>: Randomized encouragement design - </a:t>
            </a:r>
            <a:r>
              <a:rPr b="1"/>
              <a:t>High contamination risk</a:t>
            </a:r>
            <a:r>
              <a:rPr/>
              <a:t>: Run in settings with low existing exposure - </a:t>
            </a:r>
            <a:r>
              <a:rPr b="1"/>
              <a:t>Cluster randomization</a:t>
            </a:r>
            <a:r>
              <a:rPr/>
              <a:t>: By school or clinic - </a:t>
            </a:r>
            <a:r>
              <a:rPr b="1"/>
              <a:t>Monitor usage</a:t>
            </a:r>
            <a:r>
              <a:rPr/>
              <a:t>: Be prepared to adjust power calculations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Pitfalls to Avoid</a:t>
            </a:r>
          </a:p>
        </p:txBody>
      </p:sp>
      <p:sp>
        <p:nvSpPr>
          <p:cNvPr id="3" name="Content Placeholder 2"/>
          <p:cNvSpPr>
            <a:spLocks noGrp="1"/>
          </p:cNvSpPr>
          <p:nvPr>
            <p:ph idx="1"/>
          </p:nvPr>
        </p:nvSpPr>
        <p:spPr/>
        <p:txBody>
          <a:bodyPr/>
          <a:lstStyle/>
          <a:p>
            <a:pPr lvl="0" indent="-342900" marL="342900">
              <a:buAutoNum type="arabicPeriod"/>
            </a:pPr>
            <a:r>
              <a:rPr b="1"/>
              <a:t>Being underpowered</a:t>
            </a:r>
            <a:r>
              <a:rPr/>
              <a:t>: Test uptake with small groups, bring pessimists into planning</a:t>
            </a:r>
          </a:p>
          <a:p>
            <a:pPr lvl="0" indent="-342900" marL="342900">
              <a:buAutoNum type="arabicPeriod"/>
            </a:pPr>
            <a:r>
              <a:rPr b="1"/>
              <a:t>Mismanaging transparency</a:t>
            </a:r>
            <a:r>
              <a:rPr/>
              <a:t>: Balance rigor and responsiveness</a:t>
            </a:r>
          </a:p>
          <a:p>
            <a:pPr lvl="0" indent="-342900" marL="342900">
              <a:buAutoNum type="arabicPeriod"/>
            </a:pPr>
            <a:r>
              <a:rPr b="1"/>
              <a:t>Letting product evolution obscure analysis</a:t>
            </a:r>
            <a:r>
              <a:rPr/>
              <a:t>: Pre-specify how changes handled analytically</a:t>
            </a:r>
          </a:p>
          <a:p>
            <a:pPr lvl="0" indent="-342900" marL="342900">
              <a:buAutoNum type="arabicPeriod"/>
            </a:pPr>
            <a:r>
              <a:rPr b="1"/>
              <a:t>Underestimating attrition risks</a:t>
            </a:r>
            <a:r>
              <a:rPr/>
              <a:t>: Track engagement from start, plan for dropouts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The Four-Level Framework</a:t>
            </a:r>
          </a:p>
        </p:txBody>
      </p:sp>
      <p:sp>
        <p:nvSpPr>
          <p:cNvPr id="3" name="Content Placeholder 2"/>
          <p:cNvSpPr>
            <a:spLocks noGrp="1"/>
          </p:cNvSpPr>
          <p:nvPr>
            <p:ph idx="1"/>
          </p:nvPr>
        </p:nvSpPr>
        <p:spPr/>
        <p:txBody>
          <a:bodyPr/>
          <a:lstStyle/>
          <a:p>
            <a:pPr lvl="0" indent="0" marL="0">
              <a:buNone/>
            </a:pPr>
            <a:r>
              <a:rPr b="1"/>
              <a:t>Level 1 - Model</a:t>
            </a:r>
            <a:r>
              <a:rPr/>
              <a:t>: Does the AI model produce desired responses? - Rubric → Metrics → Golden Dataset → Automated Evals → Refine → Red-team</a:t>
            </a:r>
          </a:p>
          <a:p>
            <a:pPr lvl="0" indent="0" marL="0">
              <a:buNone/>
            </a:pPr>
            <a:r>
              <a:rPr b="1"/>
              <a:t>Level 2 - Product</a:t>
            </a:r>
            <a:r>
              <a:rPr/>
              <a:t>: Does the product facilitate meaningful interactions? - A/B tests, engagement metrics, retention, feature uptake</a:t>
            </a:r>
          </a:p>
          <a:p>
            <a:pPr lvl="0" indent="0" marL="0">
              <a:buNone/>
            </a:pPr>
            <a:r>
              <a:rPr b="1"/>
              <a:t>Level 3 - User</a:t>
            </a:r>
            <a:r>
              <a:rPr/>
              <a:t>: Does product support thoughts, feelings, knowledge, behaviors? - Cognitive, affective, behavioral outcomes via surveys, NLP, behavioral measures</a:t>
            </a:r>
          </a:p>
          <a:p>
            <a:pPr lvl="0" indent="0" marL="0">
              <a:buNone/>
            </a:pPr>
            <a:r>
              <a:rPr b="1"/>
              <a:t>Level 4 - Impact</a:t>
            </a:r>
            <a:r>
              <a:rPr/>
              <a:t>: Does access improve development outcomes? - RCTs and other methods to measure causal impact on mortality, learning, earnings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Principles</a:t>
            </a:r>
          </a:p>
        </p:txBody>
      </p:sp>
      <p:sp>
        <p:nvSpPr>
          <p:cNvPr id="3" name="Content Placeholder 2"/>
          <p:cNvSpPr>
            <a:spLocks noGrp="1"/>
          </p:cNvSpPr>
          <p:nvPr>
            <p:ph idx="1"/>
          </p:nvPr>
        </p:nvSpPr>
        <p:spPr/>
        <p:txBody>
          <a:bodyPr/>
          <a:lstStyle/>
          <a:p>
            <a:pPr lvl="0" indent="-342900" marL="342900">
              <a:buAutoNum type="arabicPeriod"/>
            </a:pPr>
            <a:r>
              <a:rPr b="1"/>
              <a:t>Continuous evaluation</a:t>
            </a:r>
            <a:r>
              <a:rPr/>
              <a:t>: Rapid, ongoing cycles, not one-off experiments</a:t>
            </a:r>
          </a:p>
          <a:p>
            <a:pPr lvl="0" indent="-342900" marL="342900">
              <a:buAutoNum type="arabicPeriod"/>
            </a:pPr>
            <a:r>
              <a:rPr b="1"/>
              <a:t>Cross-functional teams</a:t>
            </a:r>
            <a:r>
              <a:rPr/>
              <a:t>: All four perspectives must be represented</a:t>
            </a:r>
          </a:p>
          <a:p>
            <a:pPr lvl="0" indent="-342900" marL="342900">
              <a:buAutoNum type="arabicPeriod"/>
            </a:pPr>
            <a:r>
              <a:rPr b="1"/>
              <a:t>Building blocks</a:t>
            </a:r>
            <a:r>
              <a:rPr/>
              <a:t>: User funnels, ETL pipelines, targeted hypotheses, experiments</a:t>
            </a:r>
          </a:p>
          <a:p>
            <a:pPr lvl="0" indent="-342900" marL="342900">
              <a:buAutoNum type="arabicPeriod"/>
            </a:pPr>
            <a:r>
              <a:rPr b="1"/>
              <a:t>Complementary methods</a:t>
            </a:r>
            <a:r>
              <a:rPr/>
              <a:t>: All levels work together at different stages</a:t>
            </a:r>
          </a:p>
          <a:p>
            <a:pPr lvl="0" indent="-342900" marL="342900">
              <a:buAutoNum type="arabicPeriod"/>
            </a:pPr>
            <a:r>
              <a:rPr b="1"/>
              <a:t>Right-sized evaluation</a:t>
            </a:r>
            <a:r>
              <a:rPr/>
              <a:t>: Make informed tradeoffs about what’s “enough”</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a:t>
            </a:r>
          </a:p>
        </p:txBody>
      </p:sp>
      <p:sp>
        <p:nvSpPr>
          <p:cNvPr id="3" name="Content Placeholder 2"/>
          <p:cNvSpPr>
            <a:spLocks noGrp="1"/>
          </p:cNvSpPr>
          <p:nvPr>
            <p:ph idx="1"/>
          </p:nvPr>
        </p:nvSpPr>
        <p:spPr/>
        <p:txBody>
          <a:bodyPr/>
          <a:lstStyle/>
          <a:p>
            <a:pPr lvl="0" indent="0" marL="0">
              <a:buNone/>
            </a:pPr>
            <a:r>
              <a:rPr b="1"/>
              <a:t>The Agency Fund</a:t>
            </a:r>
            <a:br/>
            <a:r>
              <a:rPr b="1"/>
              <a:t>IDInsight</a:t>
            </a:r>
            <a:br/>
            <a:r>
              <a:rPr b="1"/>
              <a:t>Center for Global Development</a:t>
            </a:r>
          </a:p>
          <a:p>
            <a:pPr lvl="0" indent="0" marL="0">
              <a:buNone/>
            </a:pPr>
            <a:r>
              <a:rPr b="1"/>
              <a:t>November 2025</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This is a living playbook. Current version grounded in lessons from AI4GD accelerator teams and experts across disciplines.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Evaluation in the Development Sector</dc:title>
  <dc:creator>The Agency Fund, IDInsight, Center for Global Development</dc:creator>
  <cp:keywords/>
  <dcterms:created xsi:type="dcterms:W3CDTF">2025-11-18T02:53:16Z</dcterms:created>
  <dcterms:modified xsi:type="dcterms:W3CDTF">2025-11-18T02:53:16Z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November 2025</vt:lpwstr>
  </property>
  <property fmtid="{D5CDD505-2E9C-101B-9397-08002B2CF9AE}" pid="3" name="output">
    <vt:lpwstr/>
  </property>
  <property fmtid="{D5CDD505-2E9C-101B-9397-08002B2CF9AE}" pid="4" name="subtitle">
    <vt:lpwstr>A Living Playbook</vt:lpwstr>
  </property>
</Properties>
</file>